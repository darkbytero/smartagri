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8"/>
  </p:notesMasterIdLst>
  <p:sldIdLst>
    <p:sldId id="291" r:id="rId2"/>
    <p:sldId id="281" r:id="rId3"/>
    <p:sldId id="290" r:id="rId4"/>
    <p:sldId id="293" r:id="rId5"/>
    <p:sldId id="294" r:id="rId6"/>
    <p:sldId id="296" r:id="rId7"/>
  </p:sldIdLst>
  <p:sldSz cx="12192000" cy="6858000"/>
  <p:notesSz cx="6858000" cy="9144000"/>
  <p:defaultTextStyle>
    <a:defPPr>
      <a:defRPr lang="en-US"/>
    </a:defPPr>
    <a:lvl1pPr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1pPr>
    <a:lvl2pPr marL="4572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2pPr>
    <a:lvl3pPr marL="9144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3pPr>
    <a:lvl4pPr marL="13716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4pPr>
    <a:lvl5pPr marL="18288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5pPr>
    <a:lvl6pPr marL="2286000" algn="l" defTabSz="914400" rtl="0" eaLnBrk="1" latinLnBrk="0" hangingPunct="1">
      <a:defRPr kern="1200">
        <a:solidFill>
          <a:schemeClr val="tx1"/>
        </a:solidFill>
        <a:latin typeface="Calibri" pitchFamily="34" charset="0"/>
        <a:ea typeface="ＭＳ Ｐゴシック" pitchFamily="1" charset="-128"/>
        <a:cs typeface="+mn-cs"/>
      </a:defRPr>
    </a:lvl6pPr>
    <a:lvl7pPr marL="2743200" algn="l" defTabSz="914400" rtl="0" eaLnBrk="1" latinLnBrk="0" hangingPunct="1">
      <a:defRPr kern="1200">
        <a:solidFill>
          <a:schemeClr val="tx1"/>
        </a:solidFill>
        <a:latin typeface="Calibri" pitchFamily="34" charset="0"/>
        <a:ea typeface="ＭＳ Ｐゴシック" pitchFamily="1" charset="-128"/>
        <a:cs typeface="+mn-cs"/>
      </a:defRPr>
    </a:lvl7pPr>
    <a:lvl8pPr marL="3200400" algn="l" defTabSz="914400" rtl="0" eaLnBrk="1" latinLnBrk="0" hangingPunct="1">
      <a:defRPr kern="1200">
        <a:solidFill>
          <a:schemeClr val="tx1"/>
        </a:solidFill>
        <a:latin typeface="Calibri" pitchFamily="34" charset="0"/>
        <a:ea typeface="ＭＳ Ｐゴシック" pitchFamily="1" charset="-128"/>
        <a:cs typeface="+mn-cs"/>
      </a:defRPr>
    </a:lvl8pPr>
    <a:lvl9pPr marL="3657600" algn="l" defTabSz="914400" rtl="0" eaLnBrk="1" latinLnBrk="0" hangingPunct="1">
      <a:defRPr kern="1200">
        <a:solidFill>
          <a:schemeClr val="tx1"/>
        </a:solidFill>
        <a:latin typeface="Calibri" pitchFamily="34" charset="0"/>
        <a:ea typeface="ＭＳ Ｐゴシック" pitchFamily="1"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BB59"/>
    <a:srgbClr val="39B0D4"/>
    <a:srgbClr val="727272"/>
    <a:srgbClr val="010000"/>
    <a:srgbClr val="FFA751"/>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0" d="100"/>
          <a:sy n="70" d="100"/>
        </p:scale>
        <p:origin x="512" y="52"/>
      </p:cViewPr>
      <p:guideLst>
        <p:guide orient="horz" pos="2160"/>
        <p:guide pos="3840"/>
      </p:guideLst>
    </p:cSldViewPr>
  </p:slideViewPr>
  <p:notesTextViewPr>
    <p:cViewPr>
      <p:scale>
        <a:sx n="100" d="100"/>
        <a:sy n="100" d="100"/>
      </p:scale>
      <p:origin x="0" y="0"/>
    </p:cViewPr>
  </p:notesTextViewPr>
  <p:sorterViewPr>
    <p:cViewPr>
      <p:scale>
        <a:sx n="125" d="100"/>
        <a:sy n="125"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C4D5ADD5-2BBC-4A94-8F86-D9013941F742}" type="datetimeFigureOut">
              <a:rPr lang="en-US"/>
              <a:pPr/>
              <a:t>9/9/2026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EC790738-CFC9-4A5E-8424-6B42AA5706F7}" type="slidenum">
              <a:rPr lang="en-US"/>
              <a:pPr/>
              <a:t>‹#›</a:t>
            </a:fld>
            <a:endParaRPr lang="en-US"/>
          </a:p>
        </p:txBody>
      </p:sp>
    </p:spTree>
    <p:extLst>
      <p:ext uri="{BB962C8B-B14F-4D97-AF65-F5344CB8AC3E}">
        <p14:creationId xmlns:p14="http://schemas.microsoft.com/office/powerpoint/2010/main" val="235749454"/>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6386"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6387" name="Slide Number Placeholder 3"/>
          <p:cNvSpPr>
            <a:spLocks noGrp="1"/>
          </p:cNvSpPr>
          <p:nvPr>
            <p:ph type="sldNum" sz="quarter" idx="5"/>
          </p:nvPr>
        </p:nvSpPr>
        <p:spPr bwMode="auto">
          <a:noFill/>
          <a:ln>
            <a:miter lim="800000"/>
            <a:headEnd/>
            <a:tailEnd/>
          </a:ln>
        </p:spPr>
        <p:txBody>
          <a:bodyPr/>
          <a:lstStyle/>
          <a:p>
            <a:fld id="{65F62A7E-A2F8-438F-9CF8-47DE63F471B4}" type="slidenum">
              <a:rPr lang="en-US"/>
              <a:pPr/>
              <a:t>2</a:t>
            </a:fld>
            <a:endParaRPr lang="en-US"/>
          </a:p>
        </p:txBody>
      </p:sp>
    </p:spTree>
    <p:extLst>
      <p:ext uri="{BB962C8B-B14F-4D97-AF65-F5344CB8AC3E}">
        <p14:creationId xmlns:p14="http://schemas.microsoft.com/office/powerpoint/2010/main" val="29040732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fld id="{0CA7B74D-3791-4AC6-8451-F10DBCCCDD9A}" type="slidenum">
              <a:rPr lang="en-US"/>
              <a:pPr/>
              <a:t>3</a:t>
            </a:fld>
            <a:endParaRPr lang="en-US"/>
          </a:p>
        </p:txBody>
      </p:sp>
    </p:spTree>
    <p:extLst>
      <p:ext uri="{BB962C8B-B14F-4D97-AF65-F5344CB8AC3E}">
        <p14:creationId xmlns:p14="http://schemas.microsoft.com/office/powerpoint/2010/main" val="23352062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3773505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26417228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19086727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E60792E3-D524-454C-8AFD-A91972900BCB}" type="datetime1">
              <a:rPr lang="en-US" smtClean="0"/>
              <a:t>9/9/2026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5B7E1BAA-A38D-40DE-B22C-DF9BD7D82058}"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708B7524-32A2-4C20-A58C-BC3BAA1042FC}" type="datetime1">
              <a:rPr lang="en-US" smtClean="0"/>
              <a:t>9/9/2026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677C3CE7-23F7-4828-823C-E0205DF2CF97}"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1E994447-D6B2-43BB-A877-57F1A267B999}" type="datetime1">
              <a:rPr lang="en-US" smtClean="0"/>
              <a:t>9/9/2026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41DB31D2-2A87-4F4C-A9AD-05C6CC2B321D}"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68920E16-BD35-483C-AA6B-346FC7E46DEA}" type="datetime1">
              <a:rPr lang="en-US" smtClean="0"/>
              <a:t>9/9/2026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E1FC16D9-1635-4844-816A-0A8A2160FADA}"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2FEAC6F8-5103-4FC0-A69E-5C6AE6469DA8}" type="datetime1">
              <a:rPr lang="en-US" smtClean="0"/>
              <a:t>9/9/2026</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9" name="Slide Number Placeholder 5"/>
          <p:cNvSpPr>
            <a:spLocks noGrp="1"/>
          </p:cNvSpPr>
          <p:nvPr>
            <p:ph type="sldNum" sz="quarter" idx="12"/>
          </p:nvPr>
        </p:nvSpPr>
        <p:spPr/>
        <p:txBody>
          <a:bodyPr/>
          <a:lstStyle>
            <a:lvl1pPr>
              <a:defRPr/>
            </a:lvl1pPr>
          </a:lstStyle>
          <a:p>
            <a:fld id="{71C4100A-98DE-4944-910A-A93F5CA9F724}"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C60C6921-0627-4C8F-83D5-0CF936D2FFDD}" type="datetime1">
              <a:rPr lang="en-US" smtClean="0"/>
              <a:t>9/9/2026</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5" name="Slide Number Placeholder 5"/>
          <p:cNvSpPr>
            <a:spLocks noGrp="1"/>
          </p:cNvSpPr>
          <p:nvPr>
            <p:ph type="sldNum" sz="quarter" idx="12"/>
          </p:nvPr>
        </p:nvSpPr>
        <p:spPr/>
        <p:txBody>
          <a:bodyPr/>
          <a:lstStyle>
            <a:lvl1pPr>
              <a:defRPr/>
            </a:lvl1pPr>
          </a:lstStyle>
          <a:p>
            <a:fld id="{6A63342B-5A73-45DC-864D-086DE78037EF}"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2FF08AD7-8103-40F8-983C-E2BA6BB9CBE0}" type="datetime1">
              <a:rPr lang="en-US" smtClean="0"/>
              <a:t>9/9/2026</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4" name="Slide Number Placeholder 5"/>
          <p:cNvSpPr>
            <a:spLocks noGrp="1"/>
          </p:cNvSpPr>
          <p:nvPr>
            <p:ph type="sldNum" sz="quarter" idx="12"/>
          </p:nvPr>
        </p:nvSpPr>
        <p:spPr/>
        <p:txBody>
          <a:bodyPr/>
          <a:lstStyle>
            <a:lvl1pPr>
              <a:defRPr/>
            </a:lvl1pPr>
          </a:lstStyle>
          <a:p>
            <a:fld id="{B635AFB3-1ACD-44AC-8702-86B1729DF035}"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DF8C06B4-9380-4A4D-AF49-A3596E17DAF5}" type="datetime1">
              <a:rPr lang="en-US" smtClean="0"/>
              <a:t>9/9/2026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05CF15F3-5E77-4C57-9E21-50D6D1D6C022}"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EF7FDEF1-C582-4E22-9E77-D68326471F28}" type="datetime1">
              <a:rPr lang="en-US" smtClean="0"/>
              <a:t>9/9/2026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1242169A-B3C7-4FB6-967F-AF95F4EB331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053C3A68-6922-42D3-8905-ECC2D82A3469}" type="datetime1">
              <a:rPr lang="en-US" smtClean="0"/>
              <a:t>9/9/2026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94FDD027-5576-4F27-AAB6-1D994836EE78}"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CB69E9F4-7604-4950-A8B2-8ACDEDB1506E}" type="datetime1">
              <a:rPr lang="en-US" smtClean="0"/>
              <a:t>9/9/2026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2957CE61-8714-431B-A40A-01B1C5541AB7}"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47625"/>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095375"/>
            <a:ext cx="10972800" cy="5030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TradeGothic" pitchFamily="1" charset="0"/>
              </a:defRPr>
            </a:lvl1pPr>
          </a:lstStyle>
          <a:p>
            <a:fld id="{780A9602-A9A9-453F-AEF1-37B5837E02CD}" type="datetime1">
              <a:rPr lang="en-US" smtClean="0"/>
              <a:t>9/9/2026</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TradeGothic"/>
                <a:ea typeface="+mn-ea"/>
                <a:cs typeface="+mn-cs"/>
              </a:defRPr>
            </a:lvl1pPr>
          </a:lstStyle>
          <a:p>
            <a:pPr>
              <a:defRPr/>
            </a:pPr>
            <a:r>
              <a:rPr lang="en-US"/>
              <a:t>@SIH Idea submission- Template</a:t>
            </a: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TradeGothic" pitchFamily="1" charset="0"/>
              </a:defRPr>
            </a:lvl1pPr>
          </a:lstStyle>
          <a:p>
            <a:fld id="{1411BA53-830D-4830-BB65-E58DBE17D0B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0" fontAlgn="base" hangingPunct="0">
        <a:spcBef>
          <a:spcPct val="0"/>
        </a:spcBef>
        <a:spcAft>
          <a:spcPct val="0"/>
        </a:spcAft>
        <a:defRPr sz="4400" kern="1200">
          <a:solidFill>
            <a:schemeClr val="tx1"/>
          </a:solidFill>
          <a:latin typeface="TradeGothic"/>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pitchFamily="34" charset="0"/>
        <a:buChar char="•"/>
        <a:defRPr sz="3200" kern="1200">
          <a:solidFill>
            <a:schemeClr val="tx1"/>
          </a:solidFill>
          <a:latin typeface="TradeGothic"/>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pitchFamily="34" charset="0"/>
        <a:buChar char="–"/>
        <a:defRPr sz="2800" kern="1200">
          <a:solidFill>
            <a:schemeClr val="tx1"/>
          </a:solidFill>
          <a:latin typeface="TradeGothic"/>
          <a:ea typeface="ＭＳ Ｐゴシック" charset="0"/>
          <a:cs typeface="+mn-cs"/>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TradeGothic"/>
          <a:ea typeface="ＭＳ Ｐゴシック" charset="0"/>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24">
            <a:extLst>
              <a:ext uri="{FF2B5EF4-FFF2-40B4-BE49-F238E27FC236}">
                <a16:creationId xmlns:a16="http://schemas.microsoft.com/office/drawing/2014/main" id="{3E443FD7-A66B-4AA0-872D-B088B9BC5F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26">
            <a:extLst>
              <a:ext uri="{FF2B5EF4-FFF2-40B4-BE49-F238E27FC236}">
                <a16:creationId xmlns:a16="http://schemas.microsoft.com/office/drawing/2014/main" id="{C04BE0EF-3561-49B4-9A29-F283168A9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6780" y="851521"/>
            <a:ext cx="4638605" cy="5154967"/>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a:extLst>
              <a:ext uri="{FF2B5EF4-FFF2-40B4-BE49-F238E27FC236}">
                <a16:creationId xmlns:a16="http://schemas.microsoft.com/office/drawing/2014/main" id="{9120848B-B2B4-45BE-A961-AEC0B06CF41B}"/>
              </a:ext>
            </a:extLst>
          </p:cNvPr>
          <p:cNvPicPr>
            <a:picLocks noChangeAspect="1"/>
          </p:cNvPicPr>
          <p:nvPr/>
        </p:nvPicPr>
        <p:blipFill rotWithShape="1">
          <a:blip r:embed="rId2"/>
          <a:srcRect r="59916"/>
          <a:stretch/>
        </p:blipFill>
        <p:spPr>
          <a:xfrm>
            <a:off x="6854891" y="1715881"/>
            <a:ext cx="3203509" cy="3426237"/>
          </a:xfrm>
          <a:prstGeom prst="rect">
            <a:avLst/>
          </a:prstGeom>
        </p:spPr>
      </p:pic>
      <p:sp>
        <p:nvSpPr>
          <p:cNvPr id="8" name="Title 7"/>
          <p:cNvSpPr>
            <a:spLocks noGrp="1"/>
          </p:cNvSpPr>
          <p:nvPr>
            <p:ph type="ctrTitle"/>
          </p:nvPr>
        </p:nvSpPr>
        <p:spPr>
          <a:xfrm>
            <a:off x="331286" y="-526757"/>
            <a:ext cx="10363200" cy="2076450"/>
          </a:xfrm>
        </p:spPr>
        <p:txBody>
          <a:bodyPr/>
          <a:lstStyle/>
          <a:p>
            <a:r>
              <a:rPr lang="en-US" sz="4000" b="1" dirty="0">
                <a:solidFill>
                  <a:schemeClr val="tx2"/>
                </a:solidFill>
                <a:latin typeface="Garamond" panose="02020404030301010803" pitchFamily="18" charset="0"/>
              </a:rPr>
              <a:t>SMART INDIA HACKATHON 2026</a:t>
            </a:r>
            <a:endParaRPr lang="en-IN" sz="4000" b="1" dirty="0">
              <a:solidFill>
                <a:schemeClr val="tx2"/>
              </a:solidFill>
              <a:latin typeface="Garamond" panose="02020404030301010803" pitchFamily="18" charset="0"/>
            </a:endParaRPr>
          </a:p>
        </p:txBody>
      </p:sp>
      <p:sp>
        <p:nvSpPr>
          <p:cNvPr id="10" name="TextBox 9"/>
          <p:cNvSpPr txBox="1"/>
          <p:nvPr/>
        </p:nvSpPr>
        <p:spPr>
          <a:xfrm>
            <a:off x="270934" y="1063837"/>
            <a:ext cx="10845800" cy="5150449"/>
          </a:xfrm>
          <a:prstGeom prst="rect">
            <a:avLst/>
          </a:prstGeom>
          <a:noFill/>
        </p:spPr>
        <p:txBody>
          <a:bodyPr wrap="square" rtlCol="0">
            <a:spAutoFit/>
          </a:bodyPr>
          <a:lstStyle/>
          <a:p>
            <a:pPr algn="just">
              <a:lnSpc>
                <a:spcPct val="200000"/>
              </a:lnSpc>
            </a:pPr>
            <a:r>
              <a:rPr lang="en-US" sz="2400" b="1" dirty="0">
                <a:latin typeface="Times New Roman" panose="02020603050405020304" pitchFamily="18" charset="0"/>
                <a:cs typeface="Times New Roman" panose="02020603050405020304" pitchFamily="18" charset="0"/>
              </a:rPr>
              <a:t>Problem Statement ID –26132</a:t>
            </a:r>
          </a:p>
          <a:p>
            <a:pPr algn="just">
              <a:lnSpc>
                <a:spcPct val="200000"/>
              </a:lnSpc>
            </a:pPr>
            <a:r>
              <a:rPr lang="en-US" sz="2400" b="1" dirty="0">
                <a:latin typeface="Times New Roman" panose="02020603050405020304" pitchFamily="18" charset="0"/>
                <a:cs typeface="Times New Roman" panose="02020603050405020304" pitchFamily="18" charset="0"/>
              </a:rPr>
              <a:t>Problem Statement Title- Strengthening market </a:t>
            </a:r>
          </a:p>
          <a:p>
            <a:pPr algn="just">
              <a:lnSpc>
                <a:spcPct val="200000"/>
              </a:lnSpc>
            </a:pPr>
            <a:r>
              <a:rPr lang="en-US" sz="2400" b="1" dirty="0">
                <a:latin typeface="Times New Roman" panose="02020603050405020304" pitchFamily="18" charset="0"/>
                <a:cs typeface="Times New Roman" panose="02020603050405020304" pitchFamily="18" charset="0"/>
              </a:rPr>
              <a:t>linkages and price discovery for farmers</a:t>
            </a:r>
          </a:p>
          <a:p>
            <a:pPr algn="just">
              <a:lnSpc>
                <a:spcPct val="200000"/>
              </a:lnSpc>
            </a:pPr>
            <a:r>
              <a:rPr lang="en-US" sz="2400" b="1" dirty="0">
                <a:latin typeface="Times New Roman" panose="02020603050405020304" pitchFamily="18" charset="0"/>
                <a:cs typeface="Times New Roman" panose="02020603050405020304" pitchFamily="18" charset="0"/>
              </a:rPr>
              <a:t>Theme- Agriculture, </a:t>
            </a:r>
            <a:r>
              <a:rPr lang="en-US" sz="2400" b="1" dirty="0" err="1">
                <a:latin typeface="Times New Roman" panose="02020603050405020304" pitchFamily="18" charset="0"/>
                <a:cs typeface="Times New Roman" panose="02020603050405020304" pitchFamily="18" charset="0"/>
              </a:rPr>
              <a:t>FoodTech</a:t>
            </a:r>
            <a:r>
              <a:rPr lang="en-US" sz="2400" b="1" dirty="0">
                <a:latin typeface="Times New Roman" panose="02020603050405020304" pitchFamily="18" charset="0"/>
                <a:cs typeface="Times New Roman" panose="02020603050405020304" pitchFamily="18" charset="0"/>
              </a:rPr>
              <a:t> &amp; Rural Development</a:t>
            </a:r>
          </a:p>
          <a:p>
            <a:pPr algn="just">
              <a:lnSpc>
                <a:spcPct val="200000"/>
              </a:lnSpc>
            </a:pPr>
            <a:r>
              <a:rPr lang="en-US" sz="2400" b="1" dirty="0">
                <a:latin typeface="Times New Roman" panose="02020603050405020304" pitchFamily="18" charset="0"/>
                <a:cs typeface="Times New Roman" panose="02020603050405020304" pitchFamily="18" charset="0"/>
              </a:rPr>
              <a:t>PS Category- Software</a:t>
            </a:r>
          </a:p>
          <a:p>
            <a:pPr algn="just">
              <a:lnSpc>
                <a:spcPct val="200000"/>
              </a:lnSpc>
            </a:pPr>
            <a:r>
              <a:rPr lang="en-US" sz="2400" b="1" dirty="0">
                <a:latin typeface="Times New Roman" panose="02020603050405020304" pitchFamily="18" charset="0"/>
                <a:cs typeface="Times New Roman" panose="02020603050405020304" pitchFamily="18" charset="0"/>
              </a:rPr>
              <a:t>Team ID-</a:t>
            </a:r>
          </a:p>
          <a:p>
            <a:pPr algn="just">
              <a:lnSpc>
                <a:spcPct val="200000"/>
              </a:lnSpc>
            </a:pPr>
            <a:r>
              <a:rPr lang="en-US" sz="2400" b="1" dirty="0">
                <a:latin typeface="Times New Roman" panose="02020603050405020304" pitchFamily="18" charset="0"/>
                <a:cs typeface="Times New Roman" panose="02020603050405020304" pitchFamily="18" charset="0"/>
              </a:rPr>
              <a:t>Team Name- </a:t>
            </a:r>
            <a:r>
              <a:rPr lang="en-US" sz="2400" b="1" dirty="0" err="1">
                <a:latin typeface="Times New Roman" panose="02020603050405020304" pitchFamily="18" charset="0"/>
                <a:cs typeface="Times New Roman" panose="02020603050405020304" pitchFamily="18" charset="0"/>
              </a:rPr>
              <a:t>AgriSetu</a:t>
            </a:r>
            <a:endParaRPr lang="en-IN" sz="2400" b="1" dirty="0">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5361" name="Title 1"/>
          <p:cNvSpPr>
            <a:spLocks noGrp="1"/>
          </p:cNvSpPr>
          <p:nvPr>
            <p:ph type="title"/>
          </p:nvPr>
        </p:nvSpPr>
        <p:spPr>
          <a:xfrm>
            <a:off x="182998" y="0"/>
            <a:ext cx="10972800" cy="1143000"/>
          </a:xfrm>
        </p:spPr>
        <p:txBody>
          <a:bodyPr/>
          <a:lstStyle/>
          <a:p>
            <a:pPr eaLnBrk="1" hangingPunct="1"/>
            <a:r>
              <a:rPr lang="en-IN" sz="2400" b="1" dirty="0" err="1">
                <a:latin typeface="Times New Roman" panose="02020603050405020304" pitchFamily="18" charset="0"/>
                <a:cs typeface="Times New Roman" panose="02020603050405020304" pitchFamily="18" charset="0"/>
              </a:rPr>
              <a:t>ArgiSetu</a:t>
            </a:r>
            <a:r>
              <a:rPr lang="en-IN" sz="2400" b="1" dirty="0">
                <a:latin typeface="Times New Roman" panose="02020603050405020304" pitchFamily="18" charset="0"/>
                <a:cs typeface="Times New Roman" panose="02020603050405020304" pitchFamily="18" charset="0"/>
              </a:rPr>
              <a:t>-</a:t>
            </a:r>
            <a:br>
              <a:rPr lang="en-IN" sz="2400" b="1" dirty="0">
                <a:latin typeface="Times New Roman" panose="02020603050405020304" pitchFamily="18" charset="0"/>
                <a:cs typeface="Times New Roman" panose="02020603050405020304" pitchFamily="18" charset="0"/>
              </a:rPr>
            </a:br>
            <a:r>
              <a:rPr lang="en-IN" sz="2400" b="1" dirty="0">
                <a:latin typeface="Times New Roman" panose="02020603050405020304" pitchFamily="18" charset="0"/>
                <a:cs typeface="Times New Roman" panose="02020603050405020304" pitchFamily="18" charset="0"/>
              </a:rPr>
              <a:t>Intelligent Market Linkage &amp; Price Discovery for Farmers</a:t>
            </a:r>
            <a:endParaRPr lang="en-US" sz="2400" b="1" dirty="0">
              <a:latin typeface="Times New Roman" panose="02020603050405020304" pitchFamily="18" charset="0"/>
              <a:ea typeface="ＭＳ Ｐゴシック" pitchFamily="1" charset="-128"/>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677C3CE7-23F7-4828-823C-E0205DF2CF97}" type="slidenum">
              <a:rPr lang="en-US" b="1" smtClean="0">
                <a:solidFill>
                  <a:schemeClr val="bg1"/>
                </a:solidFill>
              </a:rPr>
              <a:pPr/>
              <a:t>2</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10" name="Oval 9"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1600" dirty="0" err="1"/>
              <a:t>AgriSetu</a:t>
            </a:r>
            <a:endParaRPr lang="en-IN" sz="1600"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2" name="TextBox 1">
            <a:extLst>
              <a:ext uri="{FF2B5EF4-FFF2-40B4-BE49-F238E27FC236}">
                <a16:creationId xmlns:a16="http://schemas.microsoft.com/office/drawing/2014/main" id="{3E8251B0-3EE2-A280-BB0A-FAF14D1631EC}"/>
              </a:ext>
            </a:extLst>
          </p:cNvPr>
          <p:cNvSpPr txBox="1"/>
          <p:nvPr/>
        </p:nvSpPr>
        <p:spPr>
          <a:xfrm>
            <a:off x="0" y="1059580"/>
            <a:ext cx="5361433" cy="2585323"/>
          </a:xfrm>
          <a:prstGeom prst="rect">
            <a:avLst/>
          </a:prstGeom>
          <a:noFill/>
        </p:spPr>
        <p:txBody>
          <a:bodyPr wrap="square" rtlCol="0">
            <a:spAutoFit/>
          </a:bodyPr>
          <a:lstStyle/>
          <a:p>
            <a:pPr lvl="0" algn="just"/>
            <a:endParaRPr lang="en-IN" dirty="0"/>
          </a:p>
          <a:p>
            <a:pPr lvl="0"/>
            <a:r>
              <a:rPr lang="en-IN" b="1" dirty="0">
                <a:solidFill>
                  <a:schemeClr val="tx2"/>
                </a:solidFill>
                <a:latin typeface="Times New Roman" panose="02020603050405020304" pitchFamily="18" charset="0"/>
                <a:cs typeface="Times New Roman" panose="02020603050405020304" pitchFamily="18" charset="0"/>
              </a:rPr>
              <a:t>PROBLEM</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Farmers often see only the headline mandi price, while their actual earnings are reduced by transportation costs, mandi fees, storage expenses and crop spoilage. They also lack reliable price forecasts and direct access to suitable buyers, increasing their dependence on intermediaries.</a:t>
            </a:r>
          </a:p>
          <a:p>
            <a:endParaRPr lang="en-IN" dirty="0"/>
          </a:p>
        </p:txBody>
      </p:sp>
      <p:sp>
        <p:nvSpPr>
          <p:cNvPr id="3" name="TextBox 2">
            <a:extLst>
              <a:ext uri="{FF2B5EF4-FFF2-40B4-BE49-F238E27FC236}">
                <a16:creationId xmlns:a16="http://schemas.microsoft.com/office/drawing/2014/main" id="{748F25AD-2DA4-966C-DBE3-BBA9731376E5}"/>
              </a:ext>
            </a:extLst>
          </p:cNvPr>
          <p:cNvSpPr txBox="1"/>
          <p:nvPr/>
        </p:nvSpPr>
        <p:spPr>
          <a:xfrm>
            <a:off x="8206275" y="1286231"/>
            <a:ext cx="3985292" cy="2031325"/>
          </a:xfrm>
          <a:prstGeom prst="rect">
            <a:avLst/>
          </a:prstGeom>
          <a:noFill/>
        </p:spPr>
        <p:txBody>
          <a:bodyPr wrap="square" rtlCol="0">
            <a:spAutoFit/>
          </a:bodyPr>
          <a:lstStyle/>
          <a:p>
            <a:pPr lvl="0"/>
            <a:r>
              <a:rPr lang="en-IN" b="1" dirty="0">
                <a:solidFill>
                  <a:schemeClr val="tx2"/>
                </a:solidFill>
                <a:latin typeface="Times New Roman" panose="02020603050405020304" pitchFamily="18" charset="0"/>
                <a:cs typeface="Times New Roman" panose="02020603050405020304" pitchFamily="18" charset="0"/>
              </a:rPr>
              <a:t>OUR</a:t>
            </a:r>
            <a:r>
              <a:rPr lang="en-IN" dirty="0">
                <a:latin typeface="Times New Roman" panose="02020603050405020304" pitchFamily="18" charset="0"/>
                <a:cs typeface="Times New Roman" panose="02020603050405020304" pitchFamily="18" charset="0"/>
              </a:rPr>
              <a:t> </a:t>
            </a:r>
            <a:r>
              <a:rPr lang="en-IN" b="1" dirty="0">
                <a:solidFill>
                  <a:schemeClr val="tx2"/>
                </a:solidFill>
                <a:latin typeface="Times New Roman" panose="02020603050405020304" pitchFamily="18" charset="0"/>
                <a:cs typeface="Times New Roman" panose="02020603050405020304" pitchFamily="18" charset="0"/>
              </a:rPr>
              <a:t>IDEA</a:t>
            </a:r>
            <a:br>
              <a:rPr lang="en-IN" dirty="0">
                <a:latin typeface="Times New Roman" panose="02020603050405020304" pitchFamily="18" charset="0"/>
                <a:cs typeface="Times New Roman" panose="02020603050405020304" pitchFamily="18" charset="0"/>
              </a:rPr>
            </a:br>
            <a:r>
              <a:rPr lang="en-IN" dirty="0" err="1">
                <a:latin typeface="Times New Roman" panose="02020603050405020304" pitchFamily="18" charset="0"/>
                <a:cs typeface="Times New Roman" panose="02020603050405020304" pitchFamily="18" charset="0"/>
              </a:rPr>
              <a:t>SmartAgri</a:t>
            </a:r>
            <a:r>
              <a:rPr lang="en-IN" dirty="0">
                <a:latin typeface="Times New Roman" panose="02020603050405020304" pitchFamily="18" charset="0"/>
                <a:cs typeface="Times New Roman" panose="02020603050405020304" pitchFamily="18" charset="0"/>
              </a:rPr>
              <a:t> is a single platform that helps farmers make better selling decisions by answering three questions:</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WHERE to sell</a:t>
            </a:r>
          </a:p>
          <a:p>
            <a:pPr lvl="0"/>
            <a:r>
              <a:rPr lang="en-IN" dirty="0">
                <a:latin typeface="Times New Roman" panose="02020603050405020304" pitchFamily="18" charset="0"/>
                <a:cs typeface="Times New Roman" panose="02020603050405020304" pitchFamily="18" charset="0"/>
              </a:rPr>
              <a:t>• WHEN to sell </a:t>
            </a:r>
          </a:p>
          <a:p>
            <a:pPr lvl="0"/>
            <a:r>
              <a:rPr lang="en-IN" dirty="0">
                <a:latin typeface="Times New Roman" panose="02020603050405020304" pitchFamily="18" charset="0"/>
                <a:cs typeface="Times New Roman" panose="02020603050405020304" pitchFamily="18" charset="0"/>
              </a:rPr>
              <a:t>• WHOM to sell to</a:t>
            </a:r>
          </a:p>
        </p:txBody>
      </p:sp>
      <p:sp>
        <p:nvSpPr>
          <p:cNvPr id="4" name="TextBox 3">
            <a:extLst>
              <a:ext uri="{FF2B5EF4-FFF2-40B4-BE49-F238E27FC236}">
                <a16:creationId xmlns:a16="http://schemas.microsoft.com/office/drawing/2014/main" id="{85681834-7B05-DF04-774F-5B1733C587D6}"/>
              </a:ext>
            </a:extLst>
          </p:cNvPr>
          <p:cNvSpPr txBox="1"/>
          <p:nvPr/>
        </p:nvSpPr>
        <p:spPr>
          <a:xfrm>
            <a:off x="1" y="3305158"/>
            <a:ext cx="5476774" cy="3416320"/>
          </a:xfrm>
          <a:prstGeom prst="rect">
            <a:avLst/>
          </a:prstGeom>
          <a:noFill/>
        </p:spPr>
        <p:txBody>
          <a:bodyPr wrap="square" rtlCol="0">
            <a:spAutoFit/>
          </a:bodyPr>
          <a:lstStyle/>
          <a:p>
            <a:pPr lvl="0"/>
            <a:r>
              <a:rPr lang="en-IN" b="1" dirty="0">
                <a:solidFill>
                  <a:schemeClr val="tx2"/>
                </a:solidFill>
                <a:latin typeface="Times New Roman" panose="02020603050405020304" pitchFamily="18" charset="0"/>
                <a:cs typeface="Times New Roman" panose="02020603050405020304" pitchFamily="18" charset="0"/>
              </a:rPr>
              <a:t>PROPOSED</a:t>
            </a:r>
            <a:r>
              <a:rPr lang="en-IN" dirty="0">
                <a:latin typeface="Times New Roman" panose="02020603050405020304" pitchFamily="18" charset="0"/>
                <a:cs typeface="Times New Roman" panose="02020603050405020304" pitchFamily="18" charset="0"/>
              </a:rPr>
              <a:t> </a:t>
            </a:r>
            <a:r>
              <a:rPr lang="en-IN" b="1" dirty="0">
                <a:solidFill>
                  <a:schemeClr val="tx2"/>
                </a:solidFill>
                <a:latin typeface="Times New Roman" panose="02020603050405020304" pitchFamily="18" charset="0"/>
                <a:cs typeface="Times New Roman" panose="02020603050405020304" pitchFamily="18" charset="0"/>
              </a:rPr>
              <a:t>SOLUTION</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Net Realization Engine – identifies the market where the farmer can earn the highest profit after expenses.</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Sell vs Hold Engine – recommends whether to sell immediately, wait, or sell partially based on price forecasts, spoilage and storage costs.</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Direct Buyer Matching – connects farmers with suitable buyers based on price, quantity, distance and reliability.</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Telugu AI Assistant – provides personalized market guidance through Telugu voice and text. </a:t>
            </a:r>
          </a:p>
          <a:p>
            <a:pPr lvl="0"/>
            <a:endParaRPr lang="en-IN" dirty="0"/>
          </a:p>
          <a:p>
            <a:endParaRPr lang="en-IN" dirty="0"/>
          </a:p>
        </p:txBody>
      </p:sp>
      <p:sp>
        <p:nvSpPr>
          <p:cNvPr id="5" name="TextBox 4">
            <a:extLst>
              <a:ext uri="{FF2B5EF4-FFF2-40B4-BE49-F238E27FC236}">
                <a16:creationId xmlns:a16="http://schemas.microsoft.com/office/drawing/2014/main" id="{C075902D-8B61-1A1D-543C-B8FA5C8EC12B}"/>
              </a:ext>
            </a:extLst>
          </p:cNvPr>
          <p:cNvSpPr txBox="1"/>
          <p:nvPr/>
        </p:nvSpPr>
        <p:spPr>
          <a:xfrm>
            <a:off x="8211868" y="3381625"/>
            <a:ext cx="4179754" cy="3139321"/>
          </a:xfrm>
          <a:prstGeom prst="rect">
            <a:avLst/>
          </a:prstGeom>
          <a:noFill/>
        </p:spPr>
        <p:txBody>
          <a:bodyPr wrap="square" rtlCol="0">
            <a:spAutoFit/>
          </a:bodyPr>
          <a:lstStyle/>
          <a:p>
            <a:r>
              <a:rPr lang="en-IN" b="1" dirty="0">
                <a:solidFill>
                  <a:schemeClr val="tx2"/>
                </a:solidFill>
                <a:latin typeface="Times New Roman" panose="02020603050405020304" pitchFamily="18" charset="0"/>
                <a:cs typeface="Times New Roman" panose="02020603050405020304" pitchFamily="18" charset="0"/>
              </a:rPr>
              <a:t>INNOVATION</a:t>
            </a:r>
            <a:r>
              <a:rPr lang="en-IN" dirty="0">
                <a:latin typeface="Times New Roman" panose="02020603050405020304" pitchFamily="18" charset="0"/>
                <a:cs typeface="Times New Roman" panose="02020603050405020304" pitchFamily="18" charset="0"/>
              </a:rPr>
              <a:t> </a:t>
            </a:r>
            <a:r>
              <a:rPr lang="en-IN" b="1" dirty="0">
                <a:solidFill>
                  <a:schemeClr val="tx2"/>
                </a:solidFill>
                <a:latin typeface="Times New Roman" panose="02020603050405020304" pitchFamily="18" charset="0"/>
                <a:cs typeface="Times New Roman" panose="02020603050405020304" pitchFamily="18" charset="0"/>
              </a:rPr>
              <a:t>&amp;</a:t>
            </a:r>
            <a:r>
              <a:rPr lang="en-IN" dirty="0">
                <a:solidFill>
                  <a:schemeClr val="tx2"/>
                </a:solidFill>
                <a:latin typeface="Times New Roman" panose="02020603050405020304" pitchFamily="18" charset="0"/>
                <a:cs typeface="Times New Roman" panose="02020603050405020304" pitchFamily="18" charset="0"/>
              </a:rPr>
              <a:t> </a:t>
            </a:r>
            <a:r>
              <a:rPr lang="en-IN" b="1" dirty="0">
                <a:solidFill>
                  <a:schemeClr val="tx2"/>
                </a:solidFill>
                <a:latin typeface="Times New Roman" panose="02020603050405020304" pitchFamily="18" charset="0"/>
                <a:cs typeface="Times New Roman" panose="02020603050405020304" pitchFamily="18" charset="0"/>
              </a:rPr>
              <a:t>UNIQUENESS</a:t>
            </a:r>
          </a:p>
          <a:p>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Net Profit:</a:t>
            </a:r>
            <a:r>
              <a:rPr lang="en-IN" dirty="0">
                <a:latin typeface="Times New Roman" panose="02020603050405020304" pitchFamily="18" charset="0"/>
                <a:cs typeface="Times New Roman" panose="02020603050405020304" pitchFamily="18" charset="0"/>
              </a:rPr>
              <a:t> Price → Actual Profit</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Smart Timing:</a:t>
            </a:r>
            <a:r>
              <a:rPr lang="en-IN" dirty="0">
                <a:latin typeface="Times New Roman" panose="02020603050405020304" pitchFamily="18" charset="0"/>
                <a:cs typeface="Times New Roman" panose="02020603050405020304" pitchFamily="18" charset="0"/>
              </a:rPr>
              <a:t> Forecast → Sell / Hold</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Direct Link:</a:t>
            </a:r>
            <a:r>
              <a:rPr lang="en-IN" dirty="0">
                <a:latin typeface="Times New Roman" panose="02020603050405020304" pitchFamily="18" charset="0"/>
                <a:cs typeface="Times New Roman" panose="02020603050405020304" pitchFamily="18" charset="0"/>
              </a:rPr>
              <a:t> Farmer → Buyer</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Trust Score:</a:t>
            </a:r>
            <a:r>
              <a:rPr lang="en-IN" dirty="0">
                <a:latin typeface="Times New Roman" panose="02020603050405020304" pitchFamily="18" charset="0"/>
                <a:cs typeface="Times New Roman" panose="02020603050405020304" pitchFamily="18" charset="0"/>
              </a:rPr>
              <a:t> Price + Reliability</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Telugu AI:</a:t>
            </a:r>
            <a:r>
              <a:rPr lang="en-IN" dirty="0">
                <a:latin typeface="Times New Roman" panose="02020603050405020304" pitchFamily="18" charset="0"/>
                <a:cs typeface="Times New Roman" panose="02020603050405020304" pitchFamily="18" charset="0"/>
              </a:rPr>
              <a:t> Voice + Text Advisory</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One Decision:</a:t>
            </a:r>
            <a:r>
              <a:rPr lang="en-IN" dirty="0">
                <a:latin typeface="Times New Roman" panose="02020603050405020304" pitchFamily="18" charset="0"/>
                <a:cs typeface="Times New Roman" panose="02020603050405020304" pitchFamily="18" charset="0"/>
              </a:rPr>
              <a:t> Data → Best Selling Option</a:t>
            </a:r>
          </a:p>
          <a:p>
            <a:r>
              <a:rPr lang="en-IN" b="1" dirty="0">
                <a:latin typeface="Times New Roman" panose="02020603050405020304" pitchFamily="18" charset="0"/>
                <a:cs typeface="Times New Roman" panose="02020603050405020304" pitchFamily="18" charset="0"/>
              </a:rPr>
              <a:t>USP:</a:t>
            </a:r>
            <a:br>
              <a:rPr lang="en-IN"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PRICE → PROFIT → DECISION</a:t>
            </a:r>
            <a:endParaRPr lang="en-IN" dirty="0">
              <a:latin typeface="Times New Roman" panose="02020603050405020304" pitchFamily="18" charset="0"/>
              <a:cs typeface="Times New Roman" panose="02020603050405020304" pitchFamily="18" charset="0"/>
            </a:endParaRPr>
          </a:p>
          <a:p>
            <a:endParaRPr lang="en-IN" dirty="0"/>
          </a:p>
        </p:txBody>
      </p:sp>
      <p:pic>
        <p:nvPicPr>
          <p:cNvPr id="14" name="Picture 13">
            <a:extLst>
              <a:ext uri="{FF2B5EF4-FFF2-40B4-BE49-F238E27FC236}">
                <a16:creationId xmlns:a16="http://schemas.microsoft.com/office/drawing/2014/main" id="{C9F767E2-2D7C-1D2A-1E7B-526CF9093AF8}"/>
              </a:ext>
            </a:extLst>
          </p:cNvPr>
          <p:cNvPicPr>
            <a:picLocks noChangeAspect="1"/>
          </p:cNvPicPr>
          <p:nvPr/>
        </p:nvPicPr>
        <p:blipFill>
          <a:blip r:embed="rId4"/>
          <a:stretch>
            <a:fillRect/>
          </a:stretch>
        </p:blipFill>
        <p:spPr>
          <a:xfrm>
            <a:off x="5616520" y="1477168"/>
            <a:ext cx="2219325" cy="454342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TECHNICAL APPROACH</a:t>
            </a:r>
          </a:p>
        </p:txBody>
      </p:sp>
      <p:sp>
        <p:nvSpPr>
          <p:cNvPr id="17410" name="TextBox 8"/>
          <p:cNvSpPr txBox="1">
            <a:spLocks noChangeArrowheads="1"/>
          </p:cNvSpPr>
          <p:nvPr/>
        </p:nvSpPr>
        <p:spPr bwMode="auto">
          <a:xfrm>
            <a:off x="77002" y="1059581"/>
            <a:ext cx="5794409" cy="5262979"/>
          </a:xfrm>
          <a:prstGeom prst="rect">
            <a:avLst/>
          </a:prstGeom>
          <a:noFill/>
          <a:ln w="9525">
            <a:noFill/>
            <a:miter lim="800000"/>
            <a:headEnd/>
            <a:tailEnd/>
          </a:ln>
        </p:spPr>
        <p:txBody>
          <a:bodyPr wrap="square">
            <a:spAutoFit/>
          </a:bodyPr>
          <a:lstStyle/>
          <a:p>
            <a:r>
              <a:rPr lang="en-IN" sz="1600" b="1" dirty="0">
                <a:latin typeface="Times New Roman" panose="02020603050405020304" pitchFamily="18" charset="0"/>
                <a:cs typeface="Times New Roman" panose="02020603050405020304" pitchFamily="18" charset="0"/>
              </a:rPr>
              <a:t>FRONTEND</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Next.js • React • Tailwind CSS</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Farmer-facing web interface</a:t>
            </a:r>
          </a:p>
          <a:p>
            <a:r>
              <a:rPr lang="en-IN" sz="1600" b="1" dirty="0">
                <a:latin typeface="Times New Roman" panose="02020603050405020304" pitchFamily="18" charset="0"/>
                <a:cs typeface="Times New Roman" panose="02020603050405020304" pitchFamily="18" charset="0"/>
              </a:rPr>
              <a:t>BACKEND</a:t>
            </a:r>
            <a:br>
              <a:rPr lang="en-IN" sz="1600" dirty="0">
                <a:latin typeface="Times New Roman" panose="02020603050405020304" pitchFamily="18" charset="0"/>
                <a:cs typeface="Times New Roman" panose="02020603050405020304" pitchFamily="18" charset="0"/>
              </a:rPr>
            </a:br>
            <a:r>
              <a:rPr lang="en-IN" sz="1600" dirty="0" err="1">
                <a:latin typeface="Times New Roman" panose="02020603050405020304" pitchFamily="18" charset="0"/>
                <a:cs typeface="Times New Roman" panose="02020603050405020304" pitchFamily="18" charset="0"/>
              </a:rPr>
              <a:t>FastAPI</a:t>
            </a:r>
            <a:r>
              <a:rPr lang="en-IN" sz="1600" dirty="0">
                <a:latin typeface="Times New Roman" panose="02020603050405020304" pitchFamily="18" charset="0"/>
                <a:cs typeface="Times New Roman" panose="02020603050405020304" pitchFamily="18" charset="0"/>
              </a:rPr>
              <a:t> • Python • REST APIs</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Handles application logic, calculations &amp; requests</a:t>
            </a:r>
          </a:p>
          <a:p>
            <a:r>
              <a:rPr lang="en-IN" sz="1600" b="1" dirty="0">
                <a:latin typeface="Times New Roman" panose="02020603050405020304" pitchFamily="18" charset="0"/>
                <a:cs typeface="Times New Roman" panose="02020603050405020304" pitchFamily="18" charset="0"/>
              </a:rPr>
              <a:t>DATABASE</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PostgreSQL • </a:t>
            </a:r>
            <a:r>
              <a:rPr lang="en-IN" sz="1600" dirty="0" err="1">
                <a:latin typeface="Times New Roman" panose="02020603050405020304" pitchFamily="18" charset="0"/>
                <a:cs typeface="Times New Roman" panose="02020603050405020304" pitchFamily="18" charset="0"/>
              </a:rPr>
              <a:t>Supabase</a:t>
            </a:r>
            <a:r>
              <a:rPr lang="en-IN" sz="1600" dirty="0">
                <a:latin typeface="Times New Roman" panose="02020603050405020304" pitchFamily="18" charset="0"/>
                <a:cs typeface="Times New Roman" panose="02020603050405020304" pitchFamily="18" charset="0"/>
              </a:rPr>
              <a:t> • </a:t>
            </a:r>
            <a:r>
              <a:rPr lang="en-IN" sz="1600" dirty="0" err="1">
                <a:latin typeface="Times New Roman" panose="02020603050405020304" pitchFamily="18" charset="0"/>
                <a:cs typeface="Times New Roman" panose="02020603050405020304" pitchFamily="18" charset="0"/>
              </a:rPr>
              <a:t>SQLAlchemy</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Stores farmer, buyer, crop, market &amp; transaction data</a:t>
            </a:r>
          </a:p>
          <a:p>
            <a:r>
              <a:rPr lang="en-IN" sz="1600" b="1" dirty="0">
                <a:latin typeface="Times New Roman" panose="02020603050405020304" pitchFamily="18" charset="0"/>
                <a:cs typeface="Times New Roman" panose="02020603050405020304" pitchFamily="18" charset="0"/>
              </a:rPr>
              <a:t>AI &amp; MACHINE LEARNING</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Scikit-learn • </a:t>
            </a:r>
            <a:r>
              <a:rPr lang="en-IN" sz="1600" dirty="0" err="1">
                <a:latin typeface="Times New Roman" panose="02020603050405020304" pitchFamily="18" charset="0"/>
                <a:cs typeface="Times New Roman" panose="02020603050405020304" pitchFamily="18" charset="0"/>
              </a:rPr>
              <a:t>XGBoost</a:t>
            </a:r>
            <a:r>
              <a:rPr lang="en-IN" sz="1600" dirty="0">
                <a:latin typeface="Times New Roman" panose="02020603050405020304" pitchFamily="18" charset="0"/>
                <a:cs typeface="Times New Roman" panose="02020603050405020304" pitchFamily="18" charset="0"/>
              </a:rPr>
              <a:t> • Pandas • NumPy</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Price forecasting, data analysis &amp; intelligent recommendations</a:t>
            </a:r>
          </a:p>
          <a:p>
            <a:r>
              <a:rPr lang="en-IN" sz="1600" b="1" dirty="0">
                <a:latin typeface="Times New Roman" panose="02020603050405020304" pitchFamily="18" charset="0"/>
                <a:cs typeface="Times New Roman" panose="02020603050405020304" pitchFamily="18" charset="0"/>
              </a:rPr>
              <a:t>TELUGU AI</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Sarvam AI</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Telugu voice &amp; text-based farmer advisory</a:t>
            </a:r>
          </a:p>
          <a:p>
            <a:r>
              <a:rPr lang="en-IN" sz="1600" b="1" dirty="0">
                <a:latin typeface="Times New Roman" panose="02020603050405020304" pitchFamily="18" charset="0"/>
                <a:cs typeface="Times New Roman" panose="02020603050405020304" pitchFamily="18" charset="0"/>
              </a:rPr>
              <a:t>DATA SOURCES</a:t>
            </a:r>
            <a:br>
              <a:rPr lang="en-IN" sz="1600" dirty="0">
                <a:latin typeface="Times New Roman" panose="02020603050405020304" pitchFamily="18" charset="0"/>
                <a:cs typeface="Times New Roman" panose="02020603050405020304" pitchFamily="18" charset="0"/>
              </a:rPr>
            </a:br>
            <a:r>
              <a:rPr lang="en-IN" sz="1600" dirty="0" err="1">
                <a:latin typeface="Times New Roman" panose="02020603050405020304" pitchFamily="18" charset="0"/>
                <a:cs typeface="Times New Roman" panose="02020603050405020304" pitchFamily="18" charset="0"/>
              </a:rPr>
              <a:t>Agmarknet</a:t>
            </a:r>
            <a:r>
              <a:rPr lang="en-IN" sz="1600" dirty="0">
                <a:latin typeface="Times New Roman" panose="02020603050405020304" pitchFamily="18" charset="0"/>
                <a:cs typeface="Times New Roman" panose="02020603050405020304" pitchFamily="18" charset="0"/>
              </a:rPr>
              <a:t> • Market Data • Buyer Data • Location/Transport Data</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Provides the information required for market analysis</a:t>
            </a:r>
          </a:p>
          <a:p>
            <a:r>
              <a:rPr lang="en-IN" sz="1600" b="1" dirty="0">
                <a:latin typeface="Times New Roman" panose="02020603050405020304" pitchFamily="18" charset="0"/>
                <a:cs typeface="Times New Roman" panose="02020603050405020304" pitchFamily="18" charset="0"/>
              </a:rPr>
              <a:t>CORE ENGINES</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Net Realization • Sell vs Hold • Buyer Matching</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Converts market data into actionable selling decisions</a:t>
            </a:r>
          </a:p>
        </p:txBody>
      </p:sp>
      <p:sp>
        <p:nvSpPr>
          <p:cNvPr id="6" name="Slide Number Placeholder 5"/>
          <p:cNvSpPr>
            <a:spLocks noGrp="1"/>
          </p:cNvSpPr>
          <p:nvPr>
            <p:ph type="sldNum" sz="quarter" idx="12"/>
          </p:nvPr>
        </p:nvSpPr>
        <p:spPr/>
        <p:txBody>
          <a:bodyPr/>
          <a:lstStyle/>
          <a:p>
            <a:fld id="{677C3CE7-23F7-4828-823C-E0205DF2CF97}" type="slidenum">
              <a:rPr lang="en-US" b="1">
                <a:solidFill>
                  <a:schemeClr val="bg1"/>
                </a:solidFill>
              </a:rPr>
              <a:pPr/>
              <a:t>3</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11" name="Oval 10"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IN" sz="1600" dirty="0" err="1"/>
              <a:t>AgriSetu</a:t>
            </a:r>
            <a:endParaRPr lang="en-IN" sz="1600" dirty="0"/>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pic>
        <p:nvPicPr>
          <p:cNvPr id="3" name="Picture 2">
            <a:extLst>
              <a:ext uri="{FF2B5EF4-FFF2-40B4-BE49-F238E27FC236}">
                <a16:creationId xmlns:a16="http://schemas.microsoft.com/office/drawing/2014/main" id="{CF7F8714-4897-363B-04F6-E3DB547A6B1C}"/>
              </a:ext>
            </a:extLst>
          </p:cNvPr>
          <p:cNvPicPr>
            <a:picLocks noChangeAspect="1"/>
          </p:cNvPicPr>
          <p:nvPr/>
        </p:nvPicPr>
        <p:blipFill>
          <a:blip r:embed="rId4"/>
          <a:stretch>
            <a:fillRect/>
          </a:stretch>
        </p:blipFill>
        <p:spPr>
          <a:xfrm>
            <a:off x="5871411" y="1095375"/>
            <a:ext cx="3375357" cy="5023094"/>
          </a:xfrm>
          <a:prstGeom prst="rect">
            <a:avLst/>
          </a:prstGeom>
        </p:spPr>
      </p:pic>
      <p:sp>
        <p:nvSpPr>
          <p:cNvPr id="4" name="TextBox 3">
            <a:extLst>
              <a:ext uri="{FF2B5EF4-FFF2-40B4-BE49-F238E27FC236}">
                <a16:creationId xmlns:a16="http://schemas.microsoft.com/office/drawing/2014/main" id="{233FCF11-8EF3-CB9B-8624-306D83392DC4}"/>
              </a:ext>
            </a:extLst>
          </p:cNvPr>
          <p:cNvSpPr txBox="1"/>
          <p:nvPr/>
        </p:nvSpPr>
        <p:spPr>
          <a:xfrm>
            <a:off x="9631906" y="1549399"/>
            <a:ext cx="1394934" cy="646331"/>
          </a:xfrm>
          <a:prstGeom prst="rect">
            <a:avLst/>
          </a:prstGeom>
          <a:noFill/>
        </p:spPr>
        <p:txBody>
          <a:bodyPr wrap="none" rtlCol="0">
            <a:spAutoFit/>
          </a:bodyPr>
          <a:lstStyle/>
          <a:p>
            <a:r>
              <a:rPr lang="en-IN" b="1" dirty="0" err="1">
                <a:latin typeface="Times New Roman" panose="02020603050405020304" pitchFamily="18" charset="0"/>
                <a:cs typeface="Times New Roman" panose="02020603050405020304" pitchFamily="18" charset="0"/>
              </a:rPr>
              <a:t>Github</a:t>
            </a:r>
            <a:r>
              <a:rPr lang="en-IN" b="1" dirty="0">
                <a:latin typeface="Times New Roman" panose="02020603050405020304" pitchFamily="18" charset="0"/>
                <a:cs typeface="Times New Roman" panose="02020603050405020304" pitchFamily="18" charset="0"/>
              </a:rPr>
              <a:t> link</a:t>
            </a:r>
            <a:r>
              <a:rPr lang="en-IN" dirty="0"/>
              <a:t>:</a:t>
            </a:r>
          </a:p>
          <a:p>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FEASIBILITY AND VIABILITY</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IN" sz="1600" dirty="0" err="1"/>
              <a:t>AgriSetu</a:t>
            </a:r>
            <a:endParaRPr lang="en-IN" sz="1600"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2" name="TextBox 1">
            <a:extLst>
              <a:ext uri="{FF2B5EF4-FFF2-40B4-BE49-F238E27FC236}">
                <a16:creationId xmlns:a16="http://schemas.microsoft.com/office/drawing/2014/main" id="{1C401C5F-88CA-4888-BB62-854B1FED1B7F}"/>
              </a:ext>
            </a:extLst>
          </p:cNvPr>
          <p:cNvSpPr txBox="1"/>
          <p:nvPr/>
        </p:nvSpPr>
        <p:spPr>
          <a:xfrm>
            <a:off x="48125" y="1164789"/>
            <a:ext cx="6631807" cy="2862322"/>
          </a:xfrm>
          <a:prstGeom prst="rect">
            <a:avLst/>
          </a:prstGeom>
          <a:noFill/>
        </p:spPr>
        <p:txBody>
          <a:bodyPr wrap="square" rtlCol="0">
            <a:spAutoFit/>
          </a:bodyPr>
          <a:lstStyle/>
          <a:p>
            <a:r>
              <a:rPr lang="en-IN" b="1" dirty="0">
                <a:solidFill>
                  <a:schemeClr val="tx2"/>
                </a:solidFill>
              </a:rPr>
              <a:t> </a:t>
            </a:r>
            <a:r>
              <a:rPr lang="en-IN" b="1" dirty="0">
                <a:solidFill>
                  <a:schemeClr val="tx2"/>
                </a:solidFill>
                <a:latin typeface="Times New Roman" panose="02020603050405020304" pitchFamily="18" charset="0"/>
                <a:cs typeface="Times New Roman" panose="02020603050405020304" pitchFamily="18" charset="0"/>
              </a:rPr>
              <a:t>FEASIBILITY — WHY IT CAN WORK</a:t>
            </a:r>
          </a:p>
          <a:p>
            <a:pPr lvl="0"/>
            <a:r>
              <a:rPr lang="en-IN" b="1" dirty="0">
                <a:latin typeface="Times New Roman" panose="02020603050405020304" pitchFamily="18" charset="0"/>
                <a:cs typeface="Times New Roman" panose="02020603050405020304" pitchFamily="18" charset="0"/>
              </a:rPr>
              <a:t>Existing Technology:</a:t>
            </a:r>
            <a:r>
              <a:rPr lang="en-IN" dirty="0">
                <a:latin typeface="Times New Roman" panose="02020603050405020304" pitchFamily="18" charset="0"/>
                <a:cs typeface="Times New Roman" panose="02020603050405020304" pitchFamily="18" charset="0"/>
              </a:rPr>
              <a:t> Next.js, </a:t>
            </a:r>
            <a:r>
              <a:rPr lang="en-IN" dirty="0" err="1">
                <a:latin typeface="Times New Roman" panose="02020603050405020304" pitchFamily="18" charset="0"/>
                <a:cs typeface="Times New Roman" panose="02020603050405020304" pitchFamily="18" charset="0"/>
              </a:rPr>
              <a:t>FastAPI</a:t>
            </a:r>
            <a:r>
              <a:rPr lang="en-IN" dirty="0">
                <a:latin typeface="Times New Roman" panose="02020603050405020304" pitchFamily="18" charset="0"/>
                <a:cs typeface="Times New Roman" panose="02020603050405020304" pitchFamily="18" charset="0"/>
              </a:rPr>
              <a:t>, PostgreSQL and ML are proven technologies.</a:t>
            </a:r>
          </a:p>
          <a:p>
            <a:pPr lvl="0"/>
            <a:r>
              <a:rPr lang="en-IN" b="1" dirty="0">
                <a:latin typeface="Times New Roman" panose="02020603050405020304" pitchFamily="18" charset="0"/>
                <a:cs typeface="Times New Roman" panose="02020603050405020304" pitchFamily="18" charset="0"/>
              </a:rPr>
              <a:t>Available Data:</a:t>
            </a:r>
            <a:r>
              <a:rPr lang="en-IN" dirty="0">
                <a:latin typeface="Times New Roman" panose="02020603050405020304" pitchFamily="18" charset="0"/>
                <a:cs typeface="Times New Roman" panose="02020603050405020304" pitchFamily="18" charset="0"/>
              </a:rPr>
              <a:t> Mandi price data can be sourced from </a:t>
            </a:r>
            <a:r>
              <a:rPr lang="en-IN" dirty="0" err="1">
                <a:latin typeface="Times New Roman" panose="02020603050405020304" pitchFamily="18" charset="0"/>
                <a:cs typeface="Times New Roman" panose="02020603050405020304" pitchFamily="18" charset="0"/>
              </a:rPr>
              <a:t>Agmarknet</a:t>
            </a:r>
            <a:r>
              <a:rPr lang="en-IN" dirty="0">
                <a:latin typeface="Times New Roman" panose="02020603050405020304" pitchFamily="18" charset="0"/>
                <a:cs typeface="Times New Roman" panose="02020603050405020304" pitchFamily="18" charset="0"/>
              </a:rPr>
              <a:t>.</a:t>
            </a:r>
          </a:p>
          <a:p>
            <a:pPr lvl="0"/>
            <a:r>
              <a:rPr lang="en-IN" b="1" dirty="0">
                <a:latin typeface="Times New Roman" panose="02020603050405020304" pitchFamily="18" charset="0"/>
                <a:cs typeface="Times New Roman" panose="02020603050405020304" pitchFamily="18" charset="0"/>
              </a:rPr>
              <a:t>Modular System:</a:t>
            </a:r>
            <a:r>
              <a:rPr lang="en-IN" dirty="0">
                <a:latin typeface="Times New Roman" panose="02020603050405020304" pitchFamily="18" charset="0"/>
                <a:cs typeface="Times New Roman" panose="02020603050405020304" pitchFamily="18" charset="0"/>
              </a:rPr>
              <a:t> Price prediction, buyer matching and advisory can work as independent modules.</a:t>
            </a:r>
          </a:p>
          <a:p>
            <a:pPr lvl="0"/>
            <a:r>
              <a:rPr lang="en-IN" b="1" dirty="0">
                <a:latin typeface="Times New Roman" panose="02020603050405020304" pitchFamily="18" charset="0"/>
                <a:cs typeface="Times New Roman" panose="02020603050405020304" pitchFamily="18" charset="0"/>
              </a:rPr>
              <a:t>Regional Access:</a:t>
            </a:r>
            <a:r>
              <a:rPr lang="en-IN" dirty="0">
                <a:latin typeface="Times New Roman" panose="02020603050405020304" pitchFamily="18" charset="0"/>
                <a:cs typeface="Times New Roman" panose="02020603050405020304" pitchFamily="18" charset="0"/>
              </a:rPr>
              <a:t> Telugu voice/text through Sarvam AI makes the platform easier for farmers to use.</a:t>
            </a:r>
          </a:p>
          <a:p>
            <a:pPr lvl="0" algn="just"/>
            <a:r>
              <a:rPr lang="en-IN" b="1" dirty="0">
                <a:latin typeface="Times New Roman" panose="02020603050405020304" pitchFamily="18" charset="0"/>
                <a:cs typeface="Times New Roman" panose="02020603050405020304" pitchFamily="18" charset="0"/>
              </a:rPr>
              <a:t>Scalable:</a:t>
            </a:r>
            <a:r>
              <a:rPr lang="en-IN" dirty="0">
                <a:latin typeface="Times New Roman" panose="02020603050405020304" pitchFamily="18" charset="0"/>
                <a:cs typeface="Times New Roman" panose="02020603050405020304" pitchFamily="18" charset="0"/>
              </a:rPr>
              <a:t> Can expand from pilot markets to more crops, districts and FPOs.</a:t>
            </a:r>
          </a:p>
        </p:txBody>
      </p:sp>
      <p:sp>
        <p:nvSpPr>
          <p:cNvPr id="3" name="TextBox 2">
            <a:extLst>
              <a:ext uri="{FF2B5EF4-FFF2-40B4-BE49-F238E27FC236}">
                <a16:creationId xmlns:a16="http://schemas.microsoft.com/office/drawing/2014/main" id="{EF8198A7-8CAA-469F-B4C3-60E896D132FF}"/>
              </a:ext>
            </a:extLst>
          </p:cNvPr>
          <p:cNvSpPr txBox="1"/>
          <p:nvPr/>
        </p:nvSpPr>
        <p:spPr>
          <a:xfrm>
            <a:off x="0" y="4121075"/>
            <a:ext cx="6728059" cy="2031325"/>
          </a:xfrm>
          <a:prstGeom prst="rect">
            <a:avLst/>
          </a:prstGeom>
          <a:noFill/>
        </p:spPr>
        <p:txBody>
          <a:bodyPr wrap="square" rtlCol="0">
            <a:spAutoFit/>
          </a:bodyPr>
          <a:lstStyle/>
          <a:p>
            <a:r>
              <a:rPr lang="en-IN" b="1" dirty="0"/>
              <a:t> </a:t>
            </a:r>
            <a:r>
              <a:rPr lang="en-IN" b="1" dirty="0">
                <a:solidFill>
                  <a:schemeClr val="tx2"/>
                </a:solidFill>
                <a:latin typeface="Times New Roman" panose="02020603050405020304" pitchFamily="18" charset="0"/>
                <a:cs typeface="Times New Roman" panose="02020603050405020304" pitchFamily="18" charset="0"/>
              </a:rPr>
              <a:t>KEY CHALLENGES &amp; RISKS</a:t>
            </a:r>
          </a:p>
          <a:p>
            <a:pPr lvl="0"/>
            <a:r>
              <a:rPr lang="en-IN" dirty="0">
                <a:latin typeface="Times New Roman" panose="02020603050405020304" pitchFamily="18" charset="0"/>
                <a:cs typeface="Times New Roman" panose="02020603050405020304" pitchFamily="18" charset="0"/>
              </a:rPr>
              <a:t>Stale / unavailable mandi data</a:t>
            </a:r>
          </a:p>
          <a:p>
            <a:pPr lvl="0"/>
            <a:r>
              <a:rPr lang="en-IN" dirty="0">
                <a:latin typeface="Times New Roman" panose="02020603050405020304" pitchFamily="18" charset="0"/>
                <a:cs typeface="Times New Roman" panose="02020603050405020304" pitchFamily="18" charset="0"/>
              </a:rPr>
              <a:t>Incorrect price predictions due to sudden market or weather changes</a:t>
            </a:r>
          </a:p>
          <a:p>
            <a:pPr lvl="0"/>
            <a:r>
              <a:rPr lang="en-IN" dirty="0">
                <a:latin typeface="Times New Roman" panose="02020603050405020304" pitchFamily="18" charset="0"/>
                <a:cs typeface="Times New Roman" panose="02020603050405020304" pitchFamily="18" charset="0"/>
              </a:rPr>
              <a:t>Poor rural internet connectivity</a:t>
            </a:r>
          </a:p>
          <a:p>
            <a:pPr lvl="0"/>
            <a:r>
              <a:rPr lang="en-IN" dirty="0">
                <a:latin typeface="Times New Roman" panose="02020603050405020304" pitchFamily="18" charset="0"/>
                <a:cs typeface="Times New Roman" panose="02020603050405020304" pitchFamily="18" charset="0"/>
              </a:rPr>
              <a:t>Buyer cancellations or payment issues</a:t>
            </a:r>
          </a:p>
          <a:p>
            <a:pPr lvl="0"/>
            <a:r>
              <a:rPr lang="en-IN" dirty="0">
                <a:latin typeface="Times New Roman" panose="02020603050405020304" pitchFamily="18" charset="0"/>
                <a:cs typeface="Times New Roman" panose="02020603050405020304" pitchFamily="18" charset="0"/>
              </a:rPr>
              <a:t>Quality disputes between farmers and buyers</a:t>
            </a:r>
          </a:p>
          <a:p>
            <a:pPr lvl="0"/>
            <a:r>
              <a:rPr lang="en-IN" dirty="0">
                <a:latin typeface="Times New Roman" panose="02020603050405020304" pitchFamily="18" charset="0"/>
                <a:cs typeface="Times New Roman" panose="02020603050405020304" pitchFamily="18" charset="0"/>
              </a:rPr>
              <a:t>Variation in transportation costs</a:t>
            </a:r>
          </a:p>
        </p:txBody>
      </p:sp>
      <p:sp>
        <p:nvSpPr>
          <p:cNvPr id="4" name="TextBox 3">
            <a:extLst>
              <a:ext uri="{FF2B5EF4-FFF2-40B4-BE49-F238E27FC236}">
                <a16:creationId xmlns:a16="http://schemas.microsoft.com/office/drawing/2014/main" id="{5B2B6440-D072-C30A-0ED9-3813DBA71F04}"/>
              </a:ext>
            </a:extLst>
          </p:cNvPr>
          <p:cNvSpPr txBox="1"/>
          <p:nvPr/>
        </p:nvSpPr>
        <p:spPr>
          <a:xfrm>
            <a:off x="6679932" y="804672"/>
            <a:ext cx="5350005" cy="3693319"/>
          </a:xfrm>
          <a:prstGeom prst="rect">
            <a:avLst/>
          </a:prstGeom>
          <a:noFill/>
        </p:spPr>
        <p:txBody>
          <a:bodyPr wrap="square" rtlCol="0">
            <a:spAutoFit/>
          </a:bodyPr>
          <a:lstStyle/>
          <a:p>
            <a:r>
              <a:rPr lang="en-IN" b="1" dirty="0"/>
              <a:t> </a:t>
            </a:r>
            <a:r>
              <a:rPr lang="en-IN" b="1" dirty="0">
                <a:solidFill>
                  <a:schemeClr val="tx2"/>
                </a:solidFill>
                <a:latin typeface="Times New Roman" panose="02020603050405020304" pitchFamily="18" charset="0"/>
                <a:cs typeface="Times New Roman" panose="02020603050405020304" pitchFamily="18" charset="0"/>
              </a:rPr>
              <a:t>STRATEGIES TO OVERCOME</a:t>
            </a:r>
          </a:p>
          <a:p>
            <a:pPr lvl="0"/>
            <a:r>
              <a:rPr lang="en-IN" b="1" dirty="0">
                <a:latin typeface="Times New Roman" panose="02020603050405020304" pitchFamily="18" charset="0"/>
                <a:cs typeface="Times New Roman" panose="02020603050405020304" pitchFamily="18" charset="0"/>
              </a:rPr>
              <a:t>Data Failure →</a:t>
            </a:r>
            <a:r>
              <a:rPr lang="en-IN" dirty="0">
                <a:latin typeface="Times New Roman" panose="02020603050405020304" pitchFamily="18" charset="0"/>
                <a:cs typeface="Times New Roman" panose="02020603050405020304" pitchFamily="18" charset="0"/>
              </a:rPr>
              <a:t> Use historical price fallback + clearly show last update time.</a:t>
            </a:r>
          </a:p>
          <a:p>
            <a:pPr lvl="0"/>
            <a:r>
              <a:rPr lang="en-IN" b="1" dirty="0">
                <a:latin typeface="Times New Roman" panose="02020603050405020304" pitchFamily="18" charset="0"/>
                <a:cs typeface="Times New Roman" panose="02020603050405020304" pitchFamily="18" charset="0"/>
              </a:rPr>
              <a:t>Prediction Risk →</a:t>
            </a:r>
            <a:r>
              <a:rPr lang="en-IN" dirty="0">
                <a:latin typeface="Times New Roman" panose="02020603050405020304" pitchFamily="18" charset="0"/>
                <a:cs typeface="Times New Roman" panose="02020603050405020304" pitchFamily="18" charset="0"/>
              </a:rPr>
              <a:t> Show confidence level &amp; risk category; avoid guaranteed predictions.</a:t>
            </a:r>
          </a:p>
          <a:p>
            <a:pPr lvl="0"/>
            <a:r>
              <a:rPr lang="en-IN" b="1" dirty="0">
                <a:latin typeface="Times New Roman" panose="02020603050405020304" pitchFamily="18" charset="0"/>
                <a:cs typeface="Times New Roman" panose="02020603050405020304" pitchFamily="18" charset="0"/>
              </a:rPr>
              <a:t>Poor Connectivity →</a:t>
            </a:r>
            <a:r>
              <a:rPr lang="en-IN" dirty="0">
                <a:latin typeface="Times New Roman" panose="02020603050405020304" pitchFamily="18" charset="0"/>
                <a:cs typeface="Times New Roman" panose="02020603050405020304" pitchFamily="18" charset="0"/>
              </a:rPr>
              <a:t> Lightweight interface + offline caching + sync when internet returns.</a:t>
            </a:r>
          </a:p>
          <a:p>
            <a:pPr lvl="0"/>
            <a:r>
              <a:rPr lang="en-IN" b="1" dirty="0">
                <a:latin typeface="Times New Roman" panose="02020603050405020304" pitchFamily="18" charset="0"/>
                <a:cs typeface="Times New Roman" panose="02020603050405020304" pitchFamily="18" charset="0"/>
              </a:rPr>
              <a:t>Buyer Risk →</a:t>
            </a:r>
            <a:r>
              <a:rPr lang="en-IN" dirty="0">
                <a:latin typeface="Times New Roman" panose="02020603050405020304" pitchFamily="18" charset="0"/>
                <a:cs typeface="Times New Roman" panose="02020603050405020304" pitchFamily="18" charset="0"/>
              </a:rPr>
              <a:t> Reliability score + verified buyer profiles + cancellation tracking.</a:t>
            </a:r>
          </a:p>
          <a:p>
            <a:pPr lvl="0"/>
            <a:r>
              <a:rPr lang="en-IN" b="1" dirty="0">
                <a:latin typeface="Times New Roman" panose="02020603050405020304" pitchFamily="18" charset="0"/>
                <a:cs typeface="Times New Roman" panose="02020603050405020304" pitchFamily="18" charset="0"/>
              </a:rPr>
              <a:t>Quality Disputes →</a:t>
            </a:r>
            <a:r>
              <a:rPr lang="en-IN" dirty="0">
                <a:latin typeface="Times New Roman" panose="02020603050405020304" pitchFamily="18" charset="0"/>
                <a:cs typeface="Times New Roman" panose="02020603050405020304" pitchFamily="18" charset="0"/>
              </a:rPr>
              <a:t> Standardized produce photos + agreed quality criteria + dispute mechanism.</a:t>
            </a:r>
          </a:p>
          <a:p>
            <a:pPr lvl="0"/>
            <a:r>
              <a:rPr lang="en-IN" b="1" dirty="0">
                <a:latin typeface="Times New Roman" panose="02020603050405020304" pitchFamily="18" charset="0"/>
                <a:cs typeface="Times New Roman" panose="02020603050405020304" pitchFamily="18" charset="0"/>
              </a:rPr>
              <a:t>Transport Cost Changes →</a:t>
            </a:r>
            <a:r>
              <a:rPr lang="en-IN" dirty="0">
                <a:latin typeface="Times New Roman" panose="02020603050405020304" pitchFamily="18" charset="0"/>
                <a:cs typeface="Times New Roman" panose="02020603050405020304" pitchFamily="18" charset="0"/>
              </a:rPr>
              <a:t> Allow farmers to update local transport rates.</a:t>
            </a:r>
          </a:p>
        </p:txBody>
      </p:sp>
      <p:sp>
        <p:nvSpPr>
          <p:cNvPr id="5" name="TextBox 4">
            <a:extLst>
              <a:ext uri="{FF2B5EF4-FFF2-40B4-BE49-F238E27FC236}">
                <a16:creationId xmlns:a16="http://schemas.microsoft.com/office/drawing/2014/main" id="{CF14B990-3FA5-C4EC-4250-546C6237E9DE}"/>
              </a:ext>
            </a:extLst>
          </p:cNvPr>
          <p:cNvSpPr txBox="1"/>
          <p:nvPr/>
        </p:nvSpPr>
        <p:spPr>
          <a:xfrm>
            <a:off x="6473953" y="4407409"/>
            <a:ext cx="5901620" cy="1754326"/>
          </a:xfrm>
          <a:prstGeom prst="rect">
            <a:avLst/>
          </a:prstGeom>
          <a:noFill/>
        </p:spPr>
        <p:txBody>
          <a:bodyPr wrap="square" rtlCol="0">
            <a:spAutoFit/>
          </a:bodyPr>
          <a:lstStyle/>
          <a:p>
            <a:r>
              <a:rPr lang="en-IN" b="1" dirty="0">
                <a:solidFill>
                  <a:schemeClr val="tx2"/>
                </a:solidFill>
                <a:latin typeface="Times New Roman" panose="02020603050405020304" pitchFamily="18" charset="0"/>
                <a:cs typeface="Times New Roman" panose="02020603050405020304" pitchFamily="18" charset="0"/>
              </a:rPr>
              <a:t>VIABILITY</a:t>
            </a:r>
          </a:p>
          <a:p>
            <a:r>
              <a:rPr lang="en-IN" b="1" dirty="0">
                <a:latin typeface="Times New Roman" panose="02020603050405020304" pitchFamily="18" charset="0"/>
                <a:cs typeface="Times New Roman" panose="02020603050405020304" pitchFamily="18" charset="0"/>
              </a:rPr>
              <a:t>Low-cost Software → Existing Data Sources → Modular AI → Regional Language → Scalable Deployment</a:t>
            </a:r>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Result:</a:t>
            </a:r>
            <a:r>
              <a:rPr lang="en-IN" dirty="0">
                <a:latin typeface="Times New Roman" panose="02020603050405020304" pitchFamily="18" charset="0"/>
                <a:cs typeface="Times New Roman" panose="02020603050405020304" pitchFamily="18" charset="0"/>
              </a:rPr>
              <a:t> A practical, scalable platform that can continue functioning even when individual data, connectivity or prediction components fail.</a:t>
            </a:r>
          </a:p>
        </p:txBody>
      </p:sp>
    </p:spTree>
    <p:extLst>
      <p:ext uri="{BB962C8B-B14F-4D97-AF65-F5344CB8AC3E}">
        <p14:creationId xmlns:p14="http://schemas.microsoft.com/office/powerpoint/2010/main" val="3753387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IMPACT AND BENEFITS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IN" sz="1600" dirty="0" err="1"/>
              <a:t>AgriSetu</a:t>
            </a:r>
            <a:endParaRPr lang="en-IN" sz="1600"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graphicFrame>
        <p:nvGraphicFramePr>
          <p:cNvPr id="3" name="Table 2">
            <a:extLst>
              <a:ext uri="{FF2B5EF4-FFF2-40B4-BE49-F238E27FC236}">
                <a16:creationId xmlns:a16="http://schemas.microsoft.com/office/drawing/2014/main" id="{B08470F6-10F3-561A-2FDB-4447938821DF}"/>
              </a:ext>
            </a:extLst>
          </p:cNvPr>
          <p:cNvGraphicFramePr>
            <a:graphicFrameLocks noGrp="1"/>
          </p:cNvGraphicFramePr>
          <p:nvPr>
            <p:extLst>
              <p:ext uri="{D42A27DB-BD31-4B8C-83A1-F6EECF244321}">
                <p14:modId xmlns:p14="http://schemas.microsoft.com/office/powerpoint/2010/main" val="1607982467"/>
              </p:ext>
            </p:extLst>
          </p:nvPr>
        </p:nvGraphicFramePr>
        <p:xfrm>
          <a:off x="154006" y="1511166"/>
          <a:ext cx="8662737" cy="2108476"/>
        </p:xfrm>
        <a:graphic>
          <a:graphicData uri="http://schemas.openxmlformats.org/drawingml/2006/table">
            <a:tbl>
              <a:tblPr>
                <a:tableStyleId>{5C22544A-7EE6-4342-B048-85BDC9FD1C3A}</a:tableStyleId>
              </a:tblPr>
              <a:tblGrid>
                <a:gridCol w="1939503">
                  <a:extLst>
                    <a:ext uri="{9D8B030D-6E8A-4147-A177-3AD203B41FA5}">
                      <a16:colId xmlns:a16="http://schemas.microsoft.com/office/drawing/2014/main" val="991383773"/>
                    </a:ext>
                  </a:extLst>
                </a:gridCol>
                <a:gridCol w="2241078">
                  <a:extLst>
                    <a:ext uri="{9D8B030D-6E8A-4147-A177-3AD203B41FA5}">
                      <a16:colId xmlns:a16="http://schemas.microsoft.com/office/drawing/2014/main" val="3041264462"/>
                    </a:ext>
                  </a:extLst>
                </a:gridCol>
                <a:gridCol w="2241078">
                  <a:extLst>
                    <a:ext uri="{9D8B030D-6E8A-4147-A177-3AD203B41FA5}">
                      <a16:colId xmlns:a16="http://schemas.microsoft.com/office/drawing/2014/main" val="2373923688"/>
                    </a:ext>
                  </a:extLst>
                </a:gridCol>
                <a:gridCol w="2241078">
                  <a:extLst>
                    <a:ext uri="{9D8B030D-6E8A-4147-A177-3AD203B41FA5}">
                      <a16:colId xmlns:a16="http://schemas.microsoft.com/office/drawing/2014/main" val="752818474"/>
                    </a:ext>
                  </a:extLst>
                </a:gridCol>
              </a:tblGrid>
              <a:tr h="511201">
                <a:tc>
                  <a:txBody>
                    <a:bodyPr/>
                    <a:lstStyle/>
                    <a:p>
                      <a:pPr>
                        <a:buNone/>
                      </a:pPr>
                      <a:r>
                        <a:rPr lang="en-IN" sz="1600" b="1" dirty="0">
                          <a:latin typeface="Times New Roman" panose="02020603050405020304" pitchFamily="18" charset="0"/>
                          <a:cs typeface="Times New Roman" panose="02020603050405020304" pitchFamily="18" charset="0"/>
                        </a:rPr>
                        <a:t>MARKET</a:t>
                      </a:r>
                      <a:r>
                        <a:rPr lang="en-IN" sz="1600" dirty="0">
                          <a:latin typeface="Times New Roman" panose="02020603050405020304" pitchFamily="18" charset="0"/>
                          <a:cs typeface="Times New Roman" panose="02020603050405020304" pitchFamily="18" charset="0"/>
                        </a:rPr>
                        <a:t> </a:t>
                      </a:r>
                      <a:r>
                        <a:rPr lang="en-IN" sz="1600" b="1" dirty="0">
                          <a:latin typeface="Times New Roman" panose="02020603050405020304" pitchFamily="18" charset="0"/>
                          <a:cs typeface="Times New Roman" panose="02020603050405020304" pitchFamily="18" charset="0"/>
                        </a:rPr>
                        <a:t>DATA</a:t>
                      </a:r>
                    </a:p>
                  </a:txBody>
                  <a:tcPr anchor="ctr"/>
                </a:tc>
                <a:tc>
                  <a:txBody>
                    <a:bodyPr/>
                    <a:lstStyle/>
                    <a:p>
                      <a:pPr>
                        <a:buNone/>
                      </a:pPr>
                      <a:r>
                        <a:rPr lang="en-IN" sz="1600" b="1" dirty="0">
                          <a:latin typeface="Times New Roman" panose="02020603050405020304" pitchFamily="18" charset="0"/>
                          <a:cs typeface="Times New Roman" panose="02020603050405020304" pitchFamily="18" charset="0"/>
                        </a:rPr>
                        <a:t>AGRISETU</a:t>
                      </a:r>
                      <a:r>
                        <a:rPr lang="en-IN" sz="1600" dirty="0">
                          <a:latin typeface="Times New Roman" panose="02020603050405020304" pitchFamily="18" charset="0"/>
                          <a:cs typeface="Times New Roman" panose="02020603050405020304" pitchFamily="18" charset="0"/>
                        </a:rPr>
                        <a:t> </a:t>
                      </a:r>
                      <a:r>
                        <a:rPr lang="en-IN" sz="1600" b="1" dirty="0">
                          <a:latin typeface="Times New Roman" panose="02020603050405020304" pitchFamily="18" charset="0"/>
                          <a:cs typeface="Times New Roman" panose="02020603050405020304" pitchFamily="18" charset="0"/>
                        </a:rPr>
                        <a:t>INTELLIGENCE</a:t>
                      </a:r>
                    </a:p>
                  </a:txBody>
                  <a:tcPr anchor="ctr"/>
                </a:tc>
                <a:tc>
                  <a:txBody>
                    <a:bodyPr/>
                    <a:lstStyle/>
                    <a:p>
                      <a:pPr>
                        <a:buNone/>
                      </a:pPr>
                      <a:r>
                        <a:rPr lang="en-IN" sz="1600" b="1" dirty="0">
                          <a:latin typeface="Times New Roman" panose="02020603050405020304" pitchFamily="18" charset="0"/>
                          <a:cs typeface="Times New Roman" panose="02020603050405020304" pitchFamily="18" charset="0"/>
                        </a:rPr>
                        <a:t>FARMER</a:t>
                      </a:r>
                      <a:r>
                        <a:rPr lang="en-IN" sz="1600" dirty="0">
                          <a:latin typeface="Times New Roman" panose="02020603050405020304" pitchFamily="18" charset="0"/>
                          <a:cs typeface="Times New Roman" panose="02020603050405020304" pitchFamily="18" charset="0"/>
                        </a:rPr>
                        <a:t> </a:t>
                      </a:r>
                      <a:r>
                        <a:rPr lang="en-IN" sz="1600" b="1" dirty="0">
                          <a:latin typeface="Times New Roman" panose="02020603050405020304" pitchFamily="18" charset="0"/>
                          <a:cs typeface="Times New Roman" panose="02020603050405020304" pitchFamily="18" charset="0"/>
                        </a:rPr>
                        <a:t>ACTION</a:t>
                      </a:r>
                    </a:p>
                  </a:txBody>
                  <a:tcPr anchor="ctr"/>
                </a:tc>
                <a:tc>
                  <a:txBody>
                    <a:bodyPr/>
                    <a:lstStyle/>
                    <a:p>
                      <a:pPr>
                        <a:buNone/>
                      </a:pPr>
                      <a:r>
                        <a:rPr lang="en-IN" sz="1600" b="1" dirty="0">
                          <a:latin typeface="Times New Roman" panose="02020603050405020304" pitchFamily="18" charset="0"/>
                          <a:cs typeface="Times New Roman" panose="02020603050405020304" pitchFamily="18" charset="0"/>
                        </a:rPr>
                        <a:t>IMPACT</a:t>
                      </a:r>
                    </a:p>
                  </a:txBody>
                  <a:tcPr anchor="ctr"/>
                </a:tc>
                <a:extLst>
                  <a:ext uri="{0D108BD9-81ED-4DB2-BD59-A6C34878D82A}">
                    <a16:rowId xmlns:a16="http://schemas.microsoft.com/office/drawing/2014/main" val="3156508490"/>
                  </a:ext>
                </a:extLst>
              </a:tr>
              <a:tr h="382339">
                <a:tc>
                  <a:txBody>
                    <a:bodyPr/>
                    <a:lstStyle/>
                    <a:p>
                      <a:pPr>
                        <a:buNone/>
                      </a:pPr>
                      <a:r>
                        <a:rPr lang="en-IN" sz="1600">
                          <a:latin typeface="Times New Roman" panose="02020603050405020304" pitchFamily="18" charset="0"/>
                          <a:cs typeface="Times New Roman" panose="02020603050405020304" pitchFamily="18" charset="0"/>
                        </a:rPr>
                        <a:t>Mandi Prices</a:t>
                      </a:r>
                    </a:p>
                  </a:txBody>
                  <a:tcPr anchor="ctr"/>
                </a:tc>
                <a:tc>
                  <a:txBody>
                    <a:bodyPr/>
                    <a:lstStyle/>
                    <a:p>
                      <a:pPr>
                        <a:buNone/>
                      </a:pPr>
                      <a:r>
                        <a:rPr lang="en-IN" sz="1600" dirty="0">
                          <a:latin typeface="Times New Roman" panose="02020603050405020304" pitchFamily="18" charset="0"/>
                          <a:cs typeface="Times New Roman" panose="02020603050405020304" pitchFamily="18" charset="0"/>
                        </a:rPr>
                        <a:t>Net Realization</a:t>
                      </a:r>
                    </a:p>
                  </a:txBody>
                  <a:tcPr anchor="ctr"/>
                </a:tc>
                <a:tc>
                  <a:txBody>
                    <a:bodyPr/>
                    <a:lstStyle/>
                    <a:p>
                      <a:pPr>
                        <a:buNone/>
                      </a:pPr>
                      <a:r>
                        <a:rPr lang="en-IN" sz="1600" dirty="0">
                          <a:latin typeface="Times New Roman" panose="02020603050405020304" pitchFamily="18" charset="0"/>
                          <a:cs typeface="Times New Roman" panose="02020603050405020304" pitchFamily="18" charset="0"/>
                        </a:rPr>
                        <a:t>WHERE to Sell</a:t>
                      </a:r>
                    </a:p>
                  </a:txBody>
                  <a:tcPr anchor="ctr"/>
                </a:tc>
                <a:tc>
                  <a:txBody>
                    <a:bodyPr/>
                    <a:lstStyle/>
                    <a:p>
                      <a:pPr>
                        <a:buNone/>
                      </a:pPr>
                      <a:r>
                        <a:rPr lang="en-IN" sz="1600">
                          <a:latin typeface="Times New Roman" panose="02020603050405020304" pitchFamily="18" charset="0"/>
                          <a:cs typeface="Times New Roman" panose="02020603050405020304" pitchFamily="18" charset="0"/>
                        </a:rPr>
                        <a:t>Better Value</a:t>
                      </a:r>
                    </a:p>
                  </a:txBody>
                  <a:tcPr anchor="ctr"/>
                </a:tc>
                <a:extLst>
                  <a:ext uri="{0D108BD9-81ED-4DB2-BD59-A6C34878D82A}">
                    <a16:rowId xmlns:a16="http://schemas.microsoft.com/office/drawing/2014/main" val="205503740"/>
                  </a:ext>
                </a:extLst>
              </a:tr>
              <a:tr h="382339">
                <a:tc>
                  <a:txBody>
                    <a:bodyPr/>
                    <a:lstStyle/>
                    <a:p>
                      <a:pPr>
                        <a:buNone/>
                      </a:pPr>
                      <a:r>
                        <a:rPr lang="en-IN" sz="1600">
                          <a:latin typeface="Times New Roman" panose="02020603050405020304" pitchFamily="18" charset="0"/>
                          <a:cs typeface="Times New Roman" panose="02020603050405020304" pitchFamily="18" charset="0"/>
                        </a:rPr>
                        <a:t>Transport Costs</a:t>
                      </a:r>
                    </a:p>
                  </a:txBody>
                  <a:tcPr anchor="ctr"/>
                </a:tc>
                <a:tc>
                  <a:txBody>
                    <a:bodyPr/>
                    <a:lstStyle/>
                    <a:p>
                      <a:pPr>
                        <a:buNone/>
                      </a:pPr>
                      <a:r>
                        <a:rPr lang="en-IN" sz="1600">
                          <a:latin typeface="Times New Roman" panose="02020603050405020304" pitchFamily="18" charset="0"/>
                          <a:cs typeface="Times New Roman" panose="02020603050405020304" pitchFamily="18" charset="0"/>
                        </a:rPr>
                        <a:t>Price Forecast</a:t>
                      </a:r>
                    </a:p>
                  </a:txBody>
                  <a:tcPr anchor="ctr"/>
                </a:tc>
                <a:tc>
                  <a:txBody>
                    <a:bodyPr/>
                    <a:lstStyle/>
                    <a:p>
                      <a:pPr>
                        <a:buNone/>
                      </a:pPr>
                      <a:r>
                        <a:rPr lang="en-IN" sz="1600" dirty="0">
                          <a:latin typeface="Times New Roman" panose="02020603050405020304" pitchFamily="18" charset="0"/>
                          <a:cs typeface="Times New Roman" panose="02020603050405020304" pitchFamily="18" charset="0"/>
                        </a:rPr>
                        <a:t>WHEN to Sell</a:t>
                      </a:r>
                    </a:p>
                  </a:txBody>
                  <a:tcPr anchor="ctr"/>
                </a:tc>
                <a:tc>
                  <a:txBody>
                    <a:bodyPr/>
                    <a:lstStyle/>
                    <a:p>
                      <a:pPr>
                        <a:buNone/>
                      </a:pPr>
                      <a:r>
                        <a:rPr lang="en-IN" sz="1600" dirty="0">
                          <a:latin typeface="Times New Roman" panose="02020603050405020304" pitchFamily="18" charset="0"/>
                          <a:cs typeface="Times New Roman" panose="02020603050405020304" pitchFamily="18" charset="0"/>
                        </a:rPr>
                        <a:t>Lower Costs</a:t>
                      </a:r>
                    </a:p>
                  </a:txBody>
                  <a:tcPr anchor="ctr"/>
                </a:tc>
                <a:extLst>
                  <a:ext uri="{0D108BD9-81ED-4DB2-BD59-A6C34878D82A}">
                    <a16:rowId xmlns:a16="http://schemas.microsoft.com/office/drawing/2014/main" val="897541750"/>
                  </a:ext>
                </a:extLst>
              </a:tr>
              <a:tr h="382339">
                <a:tc>
                  <a:txBody>
                    <a:bodyPr/>
                    <a:lstStyle/>
                    <a:p>
                      <a:pPr>
                        <a:buNone/>
                      </a:pPr>
                      <a:r>
                        <a:rPr lang="en-IN" sz="1600">
                          <a:latin typeface="Times New Roman" panose="02020603050405020304" pitchFamily="18" charset="0"/>
                          <a:cs typeface="Times New Roman" panose="02020603050405020304" pitchFamily="18" charset="0"/>
                        </a:rPr>
                        <a:t>Buyer Offers</a:t>
                      </a:r>
                    </a:p>
                  </a:txBody>
                  <a:tcPr anchor="ctr"/>
                </a:tc>
                <a:tc>
                  <a:txBody>
                    <a:bodyPr/>
                    <a:lstStyle/>
                    <a:p>
                      <a:pPr>
                        <a:buNone/>
                      </a:pPr>
                      <a:r>
                        <a:rPr lang="en-IN" sz="1600">
                          <a:latin typeface="Times New Roman" panose="02020603050405020304" pitchFamily="18" charset="0"/>
                          <a:cs typeface="Times New Roman" panose="02020603050405020304" pitchFamily="18" charset="0"/>
                        </a:rPr>
                        <a:t>Buyer Matching</a:t>
                      </a:r>
                    </a:p>
                  </a:txBody>
                  <a:tcPr anchor="ctr"/>
                </a:tc>
                <a:tc>
                  <a:txBody>
                    <a:bodyPr/>
                    <a:lstStyle/>
                    <a:p>
                      <a:pPr>
                        <a:buNone/>
                      </a:pPr>
                      <a:r>
                        <a:rPr lang="en-IN" sz="1600">
                          <a:latin typeface="Times New Roman" panose="02020603050405020304" pitchFamily="18" charset="0"/>
                          <a:cs typeface="Times New Roman" panose="02020603050405020304" pitchFamily="18" charset="0"/>
                        </a:rPr>
                        <a:t>WHOM to Sell</a:t>
                      </a:r>
                    </a:p>
                  </a:txBody>
                  <a:tcPr anchor="ctr"/>
                </a:tc>
                <a:tc>
                  <a:txBody>
                    <a:bodyPr/>
                    <a:lstStyle/>
                    <a:p>
                      <a:pPr>
                        <a:buNone/>
                      </a:pPr>
                      <a:r>
                        <a:rPr lang="en-IN" sz="1600" dirty="0">
                          <a:latin typeface="Times New Roman" panose="02020603050405020304" pitchFamily="18" charset="0"/>
                          <a:cs typeface="Times New Roman" panose="02020603050405020304" pitchFamily="18" charset="0"/>
                        </a:rPr>
                        <a:t>Less Wastage</a:t>
                      </a:r>
                    </a:p>
                  </a:txBody>
                  <a:tcPr anchor="ctr"/>
                </a:tc>
                <a:extLst>
                  <a:ext uri="{0D108BD9-81ED-4DB2-BD59-A6C34878D82A}">
                    <a16:rowId xmlns:a16="http://schemas.microsoft.com/office/drawing/2014/main" val="3550675374"/>
                  </a:ext>
                </a:extLst>
              </a:tr>
              <a:tr h="382339">
                <a:tc>
                  <a:txBody>
                    <a:bodyPr/>
                    <a:lstStyle/>
                    <a:p>
                      <a:pPr>
                        <a:buNone/>
                      </a:pPr>
                      <a:r>
                        <a:rPr lang="en-IN" sz="1600" dirty="0">
                          <a:latin typeface="Times New Roman" panose="02020603050405020304" pitchFamily="18" charset="0"/>
                          <a:cs typeface="Times New Roman" panose="02020603050405020304" pitchFamily="18" charset="0"/>
                        </a:rPr>
                        <a:t>Spoilage Data</a:t>
                      </a:r>
                    </a:p>
                  </a:txBody>
                  <a:tcPr anchor="ctr"/>
                </a:tc>
                <a:tc>
                  <a:txBody>
                    <a:bodyPr/>
                    <a:lstStyle/>
                    <a:p>
                      <a:pPr>
                        <a:buNone/>
                      </a:pPr>
                      <a:r>
                        <a:rPr lang="en-IN" sz="1600" dirty="0">
                          <a:latin typeface="Times New Roman" panose="02020603050405020304" pitchFamily="18" charset="0"/>
                          <a:cs typeface="Times New Roman" panose="02020603050405020304" pitchFamily="18" charset="0"/>
                        </a:rPr>
                        <a:t>Telugu AI</a:t>
                      </a:r>
                    </a:p>
                  </a:txBody>
                  <a:tcPr anchor="ctr"/>
                </a:tc>
                <a:tc>
                  <a:txBody>
                    <a:bodyPr/>
                    <a:lstStyle/>
                    <a:p>
                      <a:pPr>
                        <a:buNone/>
                      </a:pPr>
                      <a:r>
                        <a:rPr lang="en-IN" sz="1600">
                          <a:latin typeface="Times New Roman" panose="02020603050405020304" pitchFamily="18" charset="0"/>
                          <a:cs typeface="Times New Roman" panose="02020603050405020304" pitchFamily="18" charset="0"/>
                        </a:rPr>
                        <a:t>Better Decisions</a:t>
                      </a:r>
                    </a:p>
                  </a:txBody>
                  <a:tcPr anchor="ctr"/>
                </a:tc>
                <a:tc>
                  <a:txBody>
                    <a:bodyPr/>
                    <a:lstStyle/>
                    <a:p>
                      <a:pPr>
                        <a:buNone/>
                      </a:pPr>
                      <a:r>
                        <a:rPr lang="en-IN" sz="1600" dirty="0">
                          <a:latin typeface="Times New Roman" panose="02020603050405020304" pitchFamily="18" charset="0"/>
                          <a:cs typeface="Times New Roman" panose="02020603050405020304" pitchFamily="18" charset="0"/>
                        </a:rPr>
                        <a:t>Stronger Bargaining</a:t>
                      </a:r>
                    </a:p>
                  </a:txBody>
                  <a:tcPr anchor="ctr"/>
                </a:tc>
                <a:extLst>
                  <a:ext uri="{0D108BD9-81ED-4DB2-BD59-A6C34878D82A}">
                    <a16:rowId xmlns:a16="http://schemas.microsoft.com/office/drawing/2014/main" val="4014008663"/>
                  </a:ext>
                </a:extLst>
              </a:tr>
            </a:tbl>
          </a:graphicData>
        </a:graphic>
      </p:graphicFrame>
      <p:sp>
        <p:nvSpPr>
          <p:cNvPr id="4" name="TextBox 3">
            <a:extLst>
              <a:ext uri="{FF2B5EF4-FFF2-40B4-BE49-F238E27FC236}">
                <a16:creationId xmlns:a16="http://schemas.microsoft.com/office/drawing/2014/main" id="{EEA0F7A4-16F8-453D-C067-3AB6E9E9856E}"/>
              </a:ext>
            </a:extLst>
          </p:cNvPr>
          <p:cNvSpPr txBox="1"/>
          <p:nvPr/>
        </p:nvSpPr>
        <p:spPr>
          <a:xfrm>
            <a:off x="128121" y="987946"/>
            <a:ext cx="2242687" cy="523220"/>
          </a:xfrm>
          <a:prstGeom prst="rect">
            <a:avLst/>
          </a:prstGeom>
          <a:noFill/>
        </p:spPr>
        <p:txBody>
          <a:bodyPr wrap="square" rtlCol="0">
            <a:spAutoFit/>
          </a:bodyPr>
          <a:lstStyle/>
          <a:p>
            <a:r>
              <a:rPr lang="en-IN" sz="2800" b="1" dirty="0">
                <a:solidFill>
                  <a:schemeClr val="tx2"/>
                </a:solidFill>
                <a:latin typeface="Times New Roman" panose="02020603050405020304" pitchFamily="18" charset="0"/>
                <a:cs typeface="Times New Roman" panose="02020603050405020304" pitchFamily="18" charset="0"/>
              </a:rPr>
              <a:t>Impact</a:t>
            </a:r>
            <a:r>
              <a:rPr lang="en-IN" sz="2800" dirty="0">
                <a:latin typeface="Times New Roman" panose="02020603050405020304" pitchFamily="18" charset="0"/>
                <a:cs typeface="Times New Roman" panose="02020603050405020304" pitchFamily="18" charset="0"/>
              </a:rPr>
              <a:t> </a:t>
            </a:r>
            <a:r>
              <a:rPr lang="en-IN" sz="2800" b="1" dirty="0">
                <a:solidFill>
                  <a:schemeClr val="tx2"/>
                </a:solidFill>
                <a:latin typeface="Times New Roman" panose="02020603050405020304" pitchFamily="18" charset="0"/>
                <a:cs typeface="Times New Roman" panose="02020603050405020304" pitchFamily="18" charset="0"/>
              </a:rPr>
              <a:t>table</a:t>
            </a:r>
          </a:p>
        </p:txBody>
      </p:sp>
      <p:sp>
        <p:nvSpPr>
          <p:cNvPr id="5" name="TextBox 4">
            <a:extLst>
              <a:ext uri="{FF2B5EF4-FFF2-40B4-BE49-F238E27FC236}">
                <a16:creationId xmlns:a16="http://schemas.microsoft.com/office/drawing/2014/main" id="{F580D953-E4C1-FC72-8DCD-67B2FB50CD58}"/>
              </a:ext>
            </a:extLst>
          </p:cNvPr>
          <p:cNvSpPr txBox="1"/>
          <p:nvPr/>
        </p:nvSpPr>
        <p:spPr>
          <a:xfrm>
            <a:off x="128121" y="3758013"/>
            <a:ext cx="2268570" cy="523220"/>
          </a:xfrm>
          <a:prstGeom prst="rect">
            <a:avLst/>
          </a:prstGeom>
          <a:noFill/>
        </p:spPr>
        <p:txBody>
          <a:bodyPr wrap="none" rtlCol="0">
            <a:spAutoFit/>
          </a:bodyPr>
          <a:lstStyle/>
          <a:p>
            <a:r>
              <a:rPr lang="en-IN" sz="2800" b="1" dirty="0">
                <a:solidFill>
                  <a:schemeClr val="tx2"/>
                </a:solidFill>
                <a:latin typeface="Times New Roman" panose="02020603050405020304" pitchFamily="18" charset="0"/>
                <a:cs typeface="Times New Roman" panose="02020603050405020304" pitchFamily="18" charset="0"/>
              </a:rPr>
              <a:t>Benefits</a:t>
            </a:r>
            <a:r>
              <a:rPr lang="en-IN" sz="2800" b="1" dirty="0">
                <a:latin typeface="Times New Roman" panose="02020603050405020304" pitchFamily="18" charset="0"/>
                <a:cs typeface="Times New Roman" panose="02020603050405020304" pitchFamily="18" charset="0"/>
              </a:rPr>
              <a:t> </a:t>
            </a:r>
            <a:r>
              <a:rPr lang="en-IN" sz="2800" b="1" dirty="0">
                <a:solidFill>
                  <a:schemeClr val="tx2"/>
                </a:solidFill>
                <a:latin typeface="Times New Roman" panose="02020603050405020304" pitchFamily="18" charset="0"/>
                <a:cs typeface="Times New Roman" panose="02020603050405020304" pitchFamily="18" charset="0"/>
              </a:rPr>
              <a:t>table</a:t>
            </a:r>
          </a:p>
        </p:txBody>
      </p:sp>
      <p:graphicFrame>
        <p:nvGraphicFramePr>
          <p:cNvPr id="9" name="Table 8">
            <a:extLst>
              <a:ext uri="{FF2B5EF4-FFF2-40B4-BE49-F238E27FC236}">
                <a16:creationId xmlns:a16="http://schemas.microsoft.com/office/drawing/2014/main" id="{564C7CEA-D26C-6E7C-7C03-476CBA57E931}"/>
              </a:ext>
            </a:extLst>
          </p:cNvPr>
          <p:cNvGraphicFramePr>
            <a:graphicFrameLocks noGrp="1"/>
          </p:cNvGraphicFramePr>
          <p:nvPr>
            <p:extLst>
              <p:ext uri="{D42A27DB-BD31-4B8C-83A1-F6EECF244321}">
                <p14:modId xmlns:p14="http://schemas.microsoft.com/office/powerpoint/2010/main" val="3873923871"/>
              </p:ext>
            </p:extLst>
          </p:nvPr>
        </p:nvGraphicFramePr>
        <p:xfrm>
          <a:off x="135467" y="4281233"/>
          <a:ext cx="9576425" cy="1933157"/>
        </p:xfrm>
        <a:graphic>
          <a:graphicData uri="http://schemas.openxmlformats.org/drawingml/2006/table">
            <a:tbl>
              <a:tblPr>
                <a:tableStyleId>{5C22544A-7EE6-4342-B048-85BDC9FD1C3A}</a:tableStyleId>
              </a:tblPr>
              <a:tblGrid>
                <a:gridCol w="2061231">
                  <a:extLst>
                    <a:ext uri="{9D8B030D-6E8A-4147-A177-3AD203B41FA5}">
                      <a16:colId xmlns:a16="http://schemas.microsoft.com/office/drawing/2014/main" val="1617341536"/>
                    </a:ext>
                  </a:extLst>
                </a:gridCol>
                <a:gridCol w="7515194">
                  <a:extLst>
                    <a:ext uri="{9D8B030D-6E8A-4147-A177-3AD203B41FA5}">
                      <a16:colId xmlns:a16="http://schemas.microsoft.com/office/drawing/2014/main" val="880410905"/>
                    </a:ext>
                  </a:extLst>
                </a:gridCol>
              </a:tblGrid>
              <a:tr h="581966">
                <a:tc>
                  <a:txBody>
                    <a:bodyPr/>
                    <a:lstStyle/>
                    <a:p>
                      <a:pPr>
                        <a:buNone/>
                      </a:pPr>
                      <a:r>
                        <a:rPr lang="en-IN" sz="1600" b="1" dirty="0">
                          <a:latin typeface="Times New Roman" panose="02020603050405020304" pitchFamily="18" charset="0"/>
                          <a:cs typeface="Times New Roman" panose="02020603050405020304" pitchFamily="18" charset="0"/>
                        </a:rPr>
                        <a:t>Target Audience / Area</a:t>
                      </a:r>
                    </a:p>
                  </a:txBody>
                  <a:tcPr anchor="ctr"/>
                </a:tc>
                <a:tc>
                  <a:txBody>
                    <a:bodyPr/>
                    <a:lstStyle/>
                    <a:p>
                      <a:pPr>
                        <a:buNone/>
                      </a:pPr>
                      <a:r>
                        <a:rPr lang="en-IN" sz="1600" b="1" dirty="0">
                          <a:latin typeface="Times New Roman" panose="02020603050405020304" pitchFamily="18" charset="0"/>
                          <a:cs typeface="Times New Roman" panose="02020603050405020304" pitchFamily="18" charset="0"/>
                        </a:rPr>
                        <a:t>Key Benefits</a:t>
                      </a:r>
                    </a:p>
                  </a:txBody>
                  <a:tcPr anchor="ctr"/>
                </a:tc>
                <a:extLst>
                  <a:ext uri="{0D108BD9-81ED-4DB2-BD59-A6C34878D82A}">
                    <a16:rowId xmlns:a16="http://schemas.microsoft.com/office/drawing/2014/main" val="2317316665"/>
                  </a:ext>
                </a:extLst>
              </a:tr>
              <a:tr h="336928">
                <a:tc>
                  <a:txBody>
                    <a:bodyPr/>
                    <a:lstStyle/>
                    <a:p>
                      <a:pPr>
                        <a:buNone/>
                      </a:pPr>
                      <a:r>
                        <a:rPr lang="en-IN" sz="1600" dirty="0">
                          <a:latin typeface="Times New Roman" panose="02020603050405020304" pitchFamily="18" charset="0"/>
                          <a:cs typeface="Times New Roman" panose="02020603050405020304" pitchFamily="18" charset="0"/>
                        </a:rPr>
                        <a:t>Farmers</a:t>
                      </a:r>
                    </a:p>
                  </a:txBody>
                  <a:tcPr anchor="ctr"/>
                </a:tc>
                <a:tc>
                  <a:txBody>
                    <a:bodyPr/>
                    <a:lstStyle/>
                    <a:p>
                      <a:pPr>
                        <a:buNone/>
                      </a:pPr>
                      <a:r>
                        <a:rPr lang="en-IN" sz="1600" dirty="0">
                          <a:latin typeface="Times New Roman" panose="02020603050405020304" pitchFamily="18" charset="0"/>
                          <a:cs typeface="Times New Roman" panose="02020603050405020304" pitchFamily="18" charset="0"/>
                        </a:rPr>
                        <a:t>Better net realization • Direct buyer access • Informed selling decisions</a:t>
                      </a:r>
                    </a:p>
                  </a:txBody>
                  <a:tcPr anchor="ctr"/>
                </a:tc>
                <a:extLst>
                  <a:ext uri="{0D108BD9-81ED-4DB2-BD59-A6C34878D82A}">
                    <a16:rowId xmlns:a16="http://schemas.microsoft.com/office/drawing/2014/main" val="3121192833"/>
                  </a:ext>
                </a:extLst>
              </a:tr>
              <a:tr h="340407">
                <a:tc>
                  <a:txBody>
                    <a:bodyPr/>
                    <a:lstStyle/>
                    <a:p>
                      <a:pPr>
                        <a:buNone/>
                      </a:pPr>
                      <a:r>
                        <a:rPr lang="en-IN" sz="1600" dirty="0">
                          <a:latin typeface="Times New Roman" panose="02020603050405020304" pitchFamily="18" charset="0"/>
                          <a:cs typeface="Times New Roman" panose="02020603050405020304" pitchFamily="18" charset="0"/>
                        </a:rPr>
                        <a:t> Economic</a:t>
                      </a:r>
                    </a:p>
                  </a:txBody>
                  <a:tcPr anchor="ctr"/>
                </a:tc>
                <a:tc>
                  <a:txBody>
                    <a:bodyPr/>
                    <a:lstStyle/>
                    <a:p>
                      <a:pPr>
                        <a:buNone/>
                      </a:pPr>
                      <a:r>
                        <a:rPr lang="en-IN" sz="1600" dirty="0">
                          <a:latin typeface="Times New Roman" panose="02020603050405020304" pitchFamily="18" charset="0"/>
                          <a:cs typeface="Times New Roman" panose="02020603050405020304" pitchFamily="18" charset="0"/>
                        </a:rPr>
                        <a:t>Transparent price discovery • Lower transaction costs • Stronger bargaining power</a:t>
                      </a:r>
                    </a:p>
                  </a:txBody>
                  <a:tcPr anchor="ctr"/>
                </a:tc>
                <a:extLst>
                  <a:ext uri="{0D108BD9-81ED-4DB2-BD59-A6C34878D82A}">
                    <a16:rowId xmlns:a16="http://schemas.microsoft.com/office/drawing/2014/main" val="1529545610"/>
                  </a:ext>
                </a:extLst>
              </a:tr>
              <a:tr h="336928">
                <a:tc>
                  <a:txBody>
                    <a:bodyPr/>
                    <a:lstStyle/>
                    <a:p>
                      <a:pPr>
                        <a:buNone/>
                      </a:pPr>
                      <a:r>
                        <a:rPr lang="en-IN" sz="1600" dirty="0">
                          <a:latin typeface="Times New Roman" panose="02020603050405020304" pitchFamily="18" charset="0"/>
                          <a:cs typeface="Times New Roman" panose="02020603050405020304" pitchFamily="18" charset="0"/>
                        </a:rPr>
                        <a:t> Social</a:t>
                      </a:r>
                    </a:p>
                  </a:txBody>
                  <a:tcPr anchor="ctr"/>
                </a:tc>
                <a:tc>
                  <a:txBody>
                    <a:bodyPr/>
                    <a:lstStyle/>
                    <a:p>
                      <a:pPr>
                        <a:buNone/>
                      </a:pPr>
                      <a:r>
                        <a:rPr lang="en-IN" sz="1600" dirty="0">
                          <a:latin typeface="Times New Roman" panose="02020603050405020304" pitchFamily="18" charset="0"/>
                          <a:cs typeface="Times New Roman" panose="02020603050405020304" pitchFamily="18" charset="0"/>
                        </a:rPr>
                        <a:t>Telugu voice/text access • Reduced information gap • More inclusive market access</a:t>
                      </a:r>
                    </a:p>
                  </a:txBody>
                  <a:tcPr anchor="ctr"/>
                </a:tc>
                <a:extLst>
                  <a:ext uri="{0D108BD9-81ED-4DB2-BD59-A6C34878D82A}">
                    <a16:rowId xmlns:a16="http://schemas.microsoft.com/office/drawing/2014/main" val="816006275"/>
                  </a:ext>
                </a:extLst>
              </a:tr>
              <a:tr h="336928">
                <a:tc>
                  <a:txBody>
                    <a:bodyPr/>
                    <a:lstStyle/>
                    <a:p>
                      <a:pPr>
                        <a:buNone/>
                      </a:pPr>
                      <a:r>
                        <a:rPr lang="en-IN" sz="1600" dirty="0">
                          <a:latin typeface="Times New Roman" panose="02020603050405020304" pitchFamily="18" charset="0"/>
                          <a:cs typeface="Times New Roman" panose="02020603050405020304" pitchFamily="18" charset="0"/>
                        </a:rPr>
                        <a:t> Environmental</a:t>
                      </a:r>
                    </a:p>
                  </a:txBody>
                  <a:tcPr anchor="ctr"/>
                </a:tc>
                <a:tc>
                  <a:txBody>
                    <a:bodyPr/>
                    <a:lstStyle/>
                    <a:p>
                      <a:pPr>
                        <a:buNone/>
                      </a:pPr>
                      <a:r>
                        <a:rPr lang="en-IN" sz="1600" dirty="0">
                          <a:latin typeface="Times New Roman" panose="02020603050405020304" pitchFamily="18" charset="0"/>
                          <a:cs typeface="Times New Roman" panose="02020603050405020304" pitchFamily="18" charset="0"/>
                        </a:rPr>
                        <a:t>Reduced produce wastage • More efficient transportation</a:t>
                      </a:r>
                    </a:p>
                  </a:txBody>
                  <a:tcPr anchor="ctr"/>
                </a:tc>
                <a:extLst>
                  <a:ext uri="{0D108BD9-81ED-4DB2-BD59-A6C34878D82A}">
                    <a16:rowId xmlns:a16="http://schemas.microsoft.com/office/drawing/2014/main" val="4078044227"/>
                  </a:ext>
                </a:extLst>
              </a:tr>
            </a:tbl>
          </a:graphicData>
        </a:graphic>
      </p:graphicFrame>
    </p:spTree>
    <p:extLst>
      <p:ext uri="{BB962C8B-B14F-4D97-AF65-F5344CB8AC3E}">
        <p14:creationId xmlns:p14="http://schemas.microsoft.com/office/powerpoint/2010/main" val="29971441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RESEARCH  AND REFERENCES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9" name="Oval 8"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IN" sz="1600" dirty="0" err="1"/>
              <a:t>AgriSetu</a:t>
            </a:r>
            <a:endParaRPr lang="en-IN" sz="1600" dirty="0"/>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2" name="TextBox 1">
            <a:extLst>
              <a:ext uri="{FF2B5EF4-FFF2-40B4-BE49-F238E27FC236}">
                <a16:creationId xmlns:a16="http://schemas.microsoft.com/office/drawing/2014/main" id="{D883C334-1641-A3B4-F9DC-CE6214C0DA86}"/>
              </a:ext>
            </a:extLst>
          </p:cNvPr>
          <p:cNvSpPr txBox="1"/>
          <p:nvPr/>
        </p:nvSpPr>
        <p:spPr>
          <a:xfrm>
            <a:off x="2180844" y="1047229"/>
            <a:ext cx="2148840" cy="461665"/>
          </a:xfrm>
          <a:prstGeom prst="rect">
            <a:avLst/>
          </a:prstGeom>
          <a:noFill/>
        </p:spPr>
        <p:txBody>
          <a:bodyPr wrap="square" rtlCol="0">
            <a:spAutoFit/>
          </a:bodyPr>
          <a:lstStyle/>
          <a:p>
            <a:r>
              <a:rPr lang="en-IN" sz="2400" b="1" dirty="0">
                <a:solidFill>
                  <a:schemeClr val="tx2"/>
                </a:solidFill>
                <a:latin typeface="Times New Roman" panose="02020603050405020304" pitchFamily="18" charset="0"/>
                <a:cs typeface="Times New Roman" panose="02020603050405020304" pitchFamily="18" charset="0"/>
              </a:rPr>
              <a:t>Research basis</a:t>
            </a:r>
          </a:p>
        </p:txBody>
      </p:sp>
      <p:graphicFrame>
        <p:nvGraphicFramePr>
          <p:cNvPr id="4" name="Table 3">
            <a:extLst>
              <a:ext uri="{FF2B5EF4-FFF2-40B4-BE49-F238E27FC236}">
                <a16:creationId xmlns:a16="http://schemas.microsoft.com/office/drawing/2014/main" id="{C339F82F-C3AC-694D-CA73-0CC3ED6F1B67}"/>
              </a:ext>
            </a:extLst>
          </p:cNvPr>
          <p:cNvGraphicFramePr>
            <a:graphicFrameLocks noGrp="1"/>
          </p:cNvGraphicFramePr>
          <p:nvPr>
            <p:extLst>
              <p:ext uri="{D42A27DB-BD31-4B8C-83A1-F6EECF244321}">
                <p14:modId xmlns:p14="http://schemas.microsoft.com/office/powerpoint/2010/main" val="2928644766"/>
              </p:ext>
            </p:extLst>
          </p:nvPr>
        </p:nvGraphicFramePr>
        <p:xfrm>
          <a:off x="173736" y="1428912"/>
          <a:ext cx="6153912" cy="4789330"/>
        </p:xfrm>
        <a:graphic>
          <a:graphicData uri="http://schemas.openxmlformats.org/drawingml/2006/table">
            <a:tbl>
              <a:tblPr>
                <a:tableStyleId>{5C22544A-7EE6-4342-B048-85BDC9FD1C3A}</a:tableStyleId>
              </a:tblPr>
              <a:tblGrid>
                <a:gridCol w="1682496">
                  <a:extLst>
                    <a:ext uri="{9D8B030D-6E8A-4147-A177-3AD203B41FA5}">
                      <a16:colId xmlns:a16="http://schemas.microsoft.com/office/drawing/2014/main" val="494172560"/>
                    </a:ext>
                  </a:extLst>
                </a:gridCol>
                <a:gridCol w="2407920">
                  <a:extLst>
                    <a:ext uri="{9D8B030D-6E8A-4147-A177-3AD203B41FA5}">
                      <a16:colId xmlns:a16="http://schemas.microsoft.com/office/drawing/2014/main" val="2217883942"/>
                    </a:ext>
                  </a:extLst>
                </a:gridCol>
                <a:gridCol w="2063496">
                  <a:extLst>
                    <a:ext uri="{9D8B030D-6E8A-4147-A177-3AD203B41FA5}">
                      <a16:colId xmlns:a16="http://schemas.microsoft.com/office/drawing/2014/main" val="291506524"/>
                    </a:ext>
                  </a:extLst>
                </a:gridCol>
              </a:tblGrid>
              <a:tr h="610720">
                <a:tc>
                  <a:txBody>
                    <a:bodyPr/>
                    <a:lstStyle/>
                    <a:p>
                      <a:pPr>
                        <a:buNone/>
                      </a:pPr>
                      <a:r>
                        <a:rPr lang="en-IN" sz="1600" b="1" dirty="0">
                          <a:latin typeface="Times New Roman" panose="02020603050405020304" pitchFamily="18" charset="0"/>
                          <a:cs typeface="Times New Roman" panose="02020603050405020304" pitchFamily="18" charset="0"/>
                        </a:rPr>
                        <a:t>Research Area</a:t>
                      </a:r>
                    </a:p>
                  </a:txBody>
                  <a:tcPr anchor="ctr"/>
                </a:tc>
                <a:tc>
                  <a:txBody>
                    <a:bodyPr/>
                    <a:lstStyle/>
                    <a:p>
                      <a:pPr>
                        <a:buNone/>
                      </a:pPr>
                      <a:r>
                        <a:rPr lang="en-IN" sz="1600" b="1" dirty="0">
                          <a:latin typeface="Times New Roman" panose="02020603050405020304" pitchFamily="18" charset="0"/>
                          <a:cs typeface="Times New Roman" panose="02020603050405020304" pitchFamily="18" charset="0"/>
                        </a:rPr>
                        <a:t>Evidence Used</a:t>
                      </a:r>
                    </a:p>
                  </a:txBody>
                  <a:tcPr anchor="ctr"/>
                </a:tc>
                <a:tc>
                  <a:txBody>
                    <a:bodyPr/>
                    <a:lstStyle/>
                    <a:p>
                      <a:pPr>
                        <a:buNone/>
                      </a:pPr>
                      <a:r>
                        <a:rPr lang="en-IN" sz="1600" b="1" dirty="0">
                          <a:latin typeface="Times New Roman" panose="02020603050405020304" pitchFamily="18" charset="0"/>
                          <a:cs typeface="Times New Roman" panose="02020603050405020304" pitchFamily="18" charset="0"/>
                        </a:rPr>
                        <a:t>How it Supports </a:t>
                      </a:r>
                      <a:r>
                        <a:rPr lang="en-IN" sz="1600" b="1" dirty="0" err="1">
                          <a:latin typeface="Times New Roman" panose="02020603050405020304" pitchFamily="18" charset="0"/>
                          <a:cs typeface="Times New Roman" panose="02020603050405020304" pitchFamily="18" charset="0"/>
                        </a:rPr>
                        <a:t>SmartAgri</a:t>
                      </a:r>
                      <a:endParaRPr lang="en-IN" sz="1600" b="1"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4126472982"/>
                  </a:ext>
                </a:extLst>
              </a:tr>
              <a:tr h="610720">
                <a:tc>
                  <a:txBody>
                    <a:bodyPr/>
                    <a:lstStyle/>
                    <a:p>
                      <a:pPr>
                        <a:buNone/>
                      </a:pPr>
                      <a:r>
                        <a:rPr lang="en-IN" sz="1600" dirty="0">
                          <a:latin typeface="Times New Roman" panose="02020603050405020304" pitchFamily="18" charset="0"/>
                          <a:cs typeface="Times New Roman" panose="02020603050405020304" pitchFamily="18" charset="0"/>
                        </a:rPr>
                        <a:t> Farmer Profile</a:t>
                      </a:r>
                    </a:p>
                  </a:txBody>
                  <a:tcPr anchor="ctr"/>
                </a:tc>
                <a:tc>
                  <a:txBody>
                    <a:bodyPr/>
                    <a:lstStyle/>
                    <a:p>
                      <a:pPr>
                        <a:buNone/>
                      </a:pPr>
                      <a:r>
                        <a:rPr lang="en-IN" sz="1600" dirty="0">
                          <a:latin typeface="Times New Roman" panose="02020603050405020304" pitchFamily="18" charset="0"/>
                          <a:cs typeface="Times New Roman" panose="02020603050405020304" pitchFamily="18" charset="0"/>
                        </a:rPr>
                        <a:t>Telangana Socio-Economic Outlook</a:t>
                      </a:r>
                    </a:p>
                  </a:txBody>
                  <a:tcPr anchor="ctr"/>
                </a:tc>
                <a:tc>
                  <a:txBody>
                    <a:bodyPr/>
                    <a:lstStyle/>
                    <a:p>
                      <a:pPr>
                        <a:buNone/>
                      </a:pPr>
                      <a:r>
                        <a:rPr lang="en-IN" sz="1600">
                          <a:latin typeface="Times New Roman" panose="02020603050405020304" pitchFamily="18" charset="0"/>
                          <a:cs typeface="Times New Roman" panose="02020603050405020304" pitchFamily="18" charset="0"/>
                        </a:rPr>
                        <a:t>Focus on small &amp; marginal farmers</a:t>
                      </a:r>
                    </a:p>
                  </a:txBody>
                  <a:tcPr anchor="ctr"/>
                </a:tc>
                <a:extLst>
                  <a:ext uri="{0D108BD9-81ED-4DB2-BD59-A6C34878D82A}">
                    <a16:rowId xmlns:a16="http://schemas.microsoft.com/office/drawing/2014/main" val="4076212762"/>
                  </a:ext>
                </a:extLst>
              </a:tr>
              <a:tr h="610720">
                <a:tc>
                  <a:txBody>
                    <a:bodyPr/>
                    <a:lstStyle/>
                    <a:p>
                      <a:pPr>
                        <a:buNone/>
                      </a:pPr>
                      <a:r>
                        <a:rPr lang="en-IN" sz="1600" dirty="0">
                          <a:latin typeface="Times New Roman" panose="02020603050405020304" pitchFamily="18" charset="0"/>
                          <a:cs typeface="Times New Roman" panose="02020603050405020304" pitchFamily="18" charset="0"/>
                        </a:rPr>
                        <a:t>Market Prices</a:t>
                      </a:r>
                    </a:p>
                  </a:txBody>
                  <a:tcPr anchor="ctr"/>
                </a:tc>
                <a:tc>
                  <a:txBody>
                    <a:bodyPr/>
                    <a:lstStyle/>
                    <a:p>
                      <a:pPr>
                        <a:buNone/>
                      </a:pPr>
                      <a:r>
                        <a:rPr lang="en-IN" sz="1600" dirty="0" err="1">
                          <a:latin typeface="Times New Roman" panose="02020603050405020304" pitchFamily="18" charset="0"/>
                          <a:cs typeface="Times New Roman" panose="02020603050405020304" pitchFamily="18" charset="0"/>
                        </a:rPr>
                        <a:t>Agmarknet</a:t>
                      </a:r>
                      <a:endParaRPr lang="en-IN" sz="16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1600">
                          <a:latin typeface="Times New Roman" panose="02020603050405020304" pitchFamily="18" charset="0"/>
                          <a:cs typeface="Times New Roman" panose="02020603050405020304" pitchFamily="18" charset="0"/>
                        </a:rPr>
                        <a:t>Mandi prices, arrivals &amp; price comparison</a:t>
                      </a:r>
                    </a:p>
                  </a:txBody>
                  <a:tcPr anchor="ctr"/>
                </a:tc>
                <a:extLst>
                  <a:ext uri="{0D108BD9-81ED-4DB2-BD59-A6C34878D82A}">
                    <a16:rowId xmlns:a16="http://schemas.microsoft.com/office/drawing/2014/main" val="2774910044"/>
                  </a:ext>
                </a:extLst>
              </a:tr>
              <a:tr h="867865">
                <a:tc>
                  <a:txBody>
                    <a:bodyPr/>
                    <a:lstStyle/>
                    <a:p>
                      <a:pPr>
                        <a:buNone/>
                      </a:pPr>
                      <a:r>
                        <a:rPr lang="en-IN" sz="1600" dirty="0">
                          <a:latin typeface="Times New Roman" panose="02020603050405020304" pitchFamily="18" charset="0"/>
                          <a:cs typeface="Times New Roman" panose="02020603050405020304" pitchFamily="18" charset="0"/>
                        </a:rPr>
                        <a:t> Post-Harvest Loss</a:t>
                      </a:r>
                    </a:p>
                  </a:txBody>
                  <a:tcPr anchor="ctr"/>
                </a:tc>
                <a:tc>
                  <a:txBody>
                    <a:bodyPr/>
                    <a:lstStyle/>
                    <a:p>
                      <a:pPr>
                        <a:buNone/>
                      </a:pPr>
                      <a:r>
                        <a:rPr lang="en-IN" sz="1600" dirty="0">
                          <a:latin typeface="Times New Roman" panose="02020603050405020304" pitchFamily="18" charset="0"/>
                          <a:cs typeface="Times New Roman" panose="02020603050405020304" pitchFamily="18" charset="0"/>
                        </a:rPr>
                        <a:t>ICAR-CIPHET</a:t>
                      </a:r>
                    </a:p>
                  </a:txBody>
                  <a:tcPr anchor="ctr"/>
                </a:tc>
                <a:tc>
                  <a:txBody>
                    <a:bodyPr/>
                    <a:lstStyle/>
                    <a:p>
                      <a:pPr>
                        <a:buNone/>
                      </a:pPr>
                      <a:r>
                        <a:rPr lang="en-IN" sz="1600" dirty="0">
                          <a:latin typeface="Times New Roman" panose="02020603050405020304" pitchFamily="18" charset="0"/>
                          <a:cs typeface="Times New Roman" panose="02020603050405020304" pitchFamily="18" charset="0"/>
                        </a:rPr>
                        <a:t>Supports spoilage-aware Sell/Hold decisions</a:t>
                      </a:r>
                    </a:p>
                  </a:txBody>
                  <a:tcPr anchor="ctr"/>
                </a:tc>
                <a:extLst>
                  <a:ext uri="{0D108BD9-81ED-4DB2-BD59-A6C34878D82A}">
                    <a16:rowId xmlns:a16="http://schemas.microsoft.com/office/drawing/2014/main" val="3701850904"/>
                  </a:ext>
                </a:extLst>
              </a:tr>
              <a:tr h="867865">
                <a:tc>
                  <a:txBody>
                    <a:bodyPr/>
                    <a:lstStyle/>
                    <a:p>
                      <a:pPr>
                        <a:buNone/>
                      </a:pPr>
                      <a:r>
                        <a:rPr lang="en-IN" sz="1600" dirty="0">
                          <a:latin typeface="Times New Roman" panose="02020603050405020304" pitchFamily="18" charset="0"/>
                          <a:cs typeface="Times New Roman" panose="02020603050405020304" pitchFamily="18" charset="0"/>
                        </a:rPr>
                        <a:t>Market Linkages</a:t>
                      </a:r>
                    </a:p>
                  </a:txBody>
                  <a:tcPr anchor="ctr"/>
                </a:tc>
                <a:tc>
                  <a:txBody>
                    <a:bodyPr/>
                    <a:lstStyle/>
                    <a:p>
                      <a:pPr>
                        <a:buNone/>
                      </a:pPr>
                      <a:r>
                        <a:rPr lang="en-IN" sz="1600" dirty="0">
                          <a:latin typeface="Times New Roman" panose="02020603050405020304" pitchFamily="18" charset="0"/>
                          <a:cs typeface="Times New Roman" panose="02020603050405020304" pitchFamily="18" charset="0"/>
                        </a:rPr>
                        <a:t>NSSO Report 587</a:t>
                      </a:r>
                    </a:p>
                  </a:txBody>
                  <a:tcPr anchor="ctr"/>
                </a:tc>
                <a:tc>
                  <a:txBody>
                    <a:bodyPr/>
                    <a:lstStyle/>
                    <a:p>
                      <a:pPr>
                        <a:buNone/>
                      </a:pPr>
                      <a:r>
                        <a:rPr lang="en-IN" sz="1600" dirty="0">
                          <a:latin typeface="Times New Roman" panose="02020603050405020304" pitchFamily="18" charset="0"/>
                          <a:cs typeface="Times New Roman" panose="02020603050405020304" pitchFamily="18" charset="0"/>
                        </a:rPr>
                        <a:t>Supports direct farmer–buyer connectivity</a:t>
                      </a:r>
                    </a:p>
                  </a:txBody>
                  <a:tcPr anchor="ctr"/>
                </a:tc>
                <a:extLst>
                  <a:ext uri="{0D108BD9-81ED-4DB2-BD59-A6C34878D82A}">
                    <a16:rowId xmlns:a16="http://schemas.microsoft.com/office/drawing/2014/main" val="2741323570"/>
                  </a:ext>
                </a:extLst>
              </a:tr>
              <a:tr h="610720">
                <a:tc>
                  <a:txBody>
                    <a:bodyPr/>
                    <a:lstStyle/>
                    <a:p>
                      <a:pPr>
                        <a:buNone/>
                      </a:pPr>
                      <a:r>
                        <a:rPr lang="en-IN" sz="1600" dirty="0">
                          <a:latin typeface="Times New Roman" panose="02020603050405020304" pitchFamily="18" charset="0"/>
                          <a:cs typeface="Times New Roman" panose="02020603050405020304" pitchFamily="18" charset="0"/>
                        </a:rPr>
                        <a:t> Digital Access</a:t>
                      </a:r>
                    </a:p>
                  </a:txBody>
                  <a:tcPr anchor="ctr"/>
                </a:tc>
                <a:tc>
                  <a:txBody>
                    <a:bodyPr/>
                    <a:lstStyle/>
                    <a:p>
                      <a:pPr>
                        <a:buNone/>
                      </a:pPr>
                      <a:r>
                        <a:rPr lang="en-IN" sz="1600">
                          <a:latin typeface="Times New Roman" panose="02020603050405020304" pitchFamily="18" charset="0"/>
                          <a:cs typeface="Times New Roman" panose="02020603050405020304" pitchFamily="18" charset="0"/>
                        </a:rPr>
                        <a:t>TRAI Reports</a:t>
                      </a:r>
                    </a:p>
                  </a:txBody>
                  <a:tcPr anchor="ctr"/>
                </a:tc>
                <a:tc>
                  <a:txBody>
                    <a:bodyPr/>
                    <a:lstStyle/>
                    <a:p>
                      <a:pPr>
                        <a:buNone/>
                      </a:pPr>
                      <a:r>
                        <a:rPr lang="en-IN" sz="1600" dirty="0">
                          <a:latin typeface="Times New Roman" panose="02020603050405020304" pitchFamily="18" charset="0"/>
                          <a:cs typeface="Times New Roman" panose="02020603050405020304" pitchFamily="18" charset="0"/>
                        </a:rPr>
                        <a:t>Supports mobile-first + offline approach</a:t>
                      </a:r>
                    </a:p>
                  </a:txBody>
                  <a:tcPr anchor="ctr"/>
                </a:tc>
                <a:extLst>
                  <a:ext uri="{0D108BD9-81ED-4DB2-BD59-A6C34878D82A}">
                    <a16:rowId xmlns:a16="http://schemas.microsoft.com/office/drawing/2014/main" val="2203650781"/>
                  </a:ext>
                </a:extLst>
              </a:tr>
              <a:tr h="610720">
                <a:tc>
                  <a:txBody>
                    <a:bodyPr/>
                    <a:lstStyle/>
                    <a:p>
                      <a:pPr>
                        <a:buNone/>
                      </a:pPr>
                      <a:r>
                        <a:rPr lang="en-IN" sz="1600" dirty="0">
                          <a:latin typeface="Times New Roman" panose="02020603050405020304" pitchFamily="18" charset="0"/>
                          <a:cs typeface="Times New Roman" panose="02020603050405020304" pitchFamily="18" charset="0"/>
                        </a:rPr>
                        <a:t> Regional AI</a:t>
                      </a:r>
                    </a:p>
                  </a:txBody>
                  <a:tcPr anchor="ctr"/>
                </a:tc>
                <a:tc>
                  <a:txBody>
                    <a:bodyPr/>
                    <a:lstStyle/>
                    <a:p>
                      <a:pPr>
                        <a:buNone/>
                      </a:pPr>
                      <a:r>
                        <a:rPr lang="en-IN" sz="1600">
                          <a:latin typeface="Times New Roman" panose="02020603050405020304" pitchFamily="18" charset="0"/>
                          <a:cs typeface="Times New Roman" panose="02020603050405020304" pitchFamily="18" charset="0"/>
                        </a:rPr>
                        <a:t>Sarvam AI</a:t>
                      </a:r>
                    </a:p>
                  </a:txBody>
                  <a:tcPr anchor="ctr"/>
                </a:tc>
                <a:tc>
                  <a:txBody>
                    <a:bodyPr/>
                    <a:lstStyle/>
                    <a:p>
                      <a:pPr>
                        <a:buNone/>
                      </a:pPr>
                      <a:r>
                        <a:rPr lang="en-IN" sz="1600" dirty="0">
                          <a:latin typeface="Times New Roman" panose="02020603050405020304" pitchFamily="18" charset="0"/>
                          <a:cs typeface="Times New Roman" panose="02020603050405020304" pitchFamily="18" charset="0"/>
                        </a:rPr>
                        <a:t>Enables Telugu voice/text assistance</a:t>
                      </a:r>
                    </a:p>
                  </a:txBody>
                  <a:tcPr anchor="ctr"/>
                </a:tc>
                <a:extLst>
                  <a:ext uri="{0D108BD9-81ED-4DB2-BD59-A6C34878D82A}">
                    <a16:rowId xmlns:a16="http://schemas.microsoft.com/office/drawing/2014/main" val="2261749114"/>
                  </a:ext>
                </a:extLst>
              </a:tr>
            </a:tbl>
          </a:graphicData>
        </a:graphic>
      </p:graphicFrame>
      <p:sp>
        <p:nvSpPr>
          <p:cNvPr id="5" name="TextBox 4">
            <a:extLst>
              <a:ext uri="{FF2B5EF4-FFF2-40B4-BE49-F238E27FC236}">
                <a16:creationId xmlns:a16="http://schemas.microsoft.com/office/drawing/2014/main" id="{D2F032C0-D10D-59C8-4747-5A9B09D714DA}"/>
              </a:ext>
            </a:extLst>
          </p:cNvPr>
          <p:cNvSpPr txBox="1"/>
          <p:nvPr/>
        </p:nvSpPr>
        <p:spPr>
          <a:xfrm>
            <a:off x="8344481" y="1031311"/>
            <a:ext cx="1666675" cy="461665"/>
          </a:xfrm>
          <a:prstGeom prst="rect">
            <a:avLst/>
          </a:prstGeom>
          <a:noFill/>
        </p:spPr>
        <p:txBody>
          <a:bodyPr wrap="none" rtlCol="0">
            <a:spAutoFit/>
          </a:bodyPr>
          <a:lstStyle/>
          <a:p>
            <a:r>
              <a:rPr lang="en-IN" sz="2400" b="1" dirty="0">
                <a:solidFill>
                  <a:schemeClr val="tx2"/>
                </a:solidFill>
                <a:latin typeface="Times New Roman" panose="02020603050405020304" pitchFamily="18" charset="0"/>
                <a:cs typeface="Times New Roman" panose="02020603050405020304" pitchFamily="18" charset="0"/>
              </a:rPr>
              <a:t>References</a:t>
            </a:r>
            <a:r>
              <a:rPr lang="en-IN" dirty="0"/>
              <a:t> </a:t>
            </a:r>
          </a:p>
        </p:txBody>
      </p:sp>
      <p:sp>
        <p:nvSpPr>
          <p:cNvPr id="8" name="TextBox 7">
            <a:extLst>
              <a:ext uri="{FF2B5EF4-FFF2-40B4-BE49-F238E27FC236}">
                <a16:creationId xmlns:a16="http://schemas.microsoft.com/office/drawing/2014/main" id="{E6404888-CB92-F324-68F9-4D19AA19957C}"/>
              </a:ext>
            </a:extLst>
          </p:cNvPr>
          <p:cNvSpPr txBox="1"/>
          <p:nvPr/>
        </p:nvSpPr>
        <p:spPr>
          <a:xfrm>
            <a:off x="7324344" y="1629496"/>
            <a:ext cx="4599432" cy="4247317"/>
          </a:xfrm>
          <a:prstGeom prst="rect">
            <a:avLst/>
          </a:prstGeom>
          <a:noFill/>
        </p:spPr>
        <p:txBody>
          <a:bodyPr wrap="square" rtlCol="0">
            <a:spAutoFit/>
          </a:bodyPr>
          <a:lstStyle/>
          <a:p>
            <a:pPr marL="28575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Government of Telangana</a:t>
            </a:r>
            <a:r>
              <a:rPr lang="en-IN" dirty="0">
                <a:latin typeface="Times New Roman" panose="02020603050405020304" pitchFamily="18" charset="0"/>
                <a:cs typeface="Times New Roman" panose="02020603050405020304" pitchFamily="18" charset="0"/>
              </a:rPr>
              <a:t> — Socio-Economic Outlook 2024</a:t>
            </a:r>
          </a:p>
          <a:p>
            <a:pPr marL="285750" indent="-285750">
              <a:buFont typeface="Arial" panose="020B0604020202020204" pitchFamily="34" charset="0"/>
              <a:buChar char="•"/>
            </a:pPr>
            <a:br>
              <a:rPr lang="en-IN"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DMI / </a:t>
            </a:r>
            <a:r>
              <a:rPr lang="en-IN" b="1" dirty="0" err="1">
                <a:latin typeface="Times New Roman" panose="02020603050405020304" pitchFamily="18" charset="0"/>
                <a:cs typeface="Times New Roman" panose="02020603050405020304" pitchFamily="18" charset="0"/>
              </a:rPr>
              <a:t>Agmarknet</a:t>
            </a:r>
            <a:r>
              <a:rPr lang="en-IN" dirty="0">
                <a:latin typeface="Times New Roman" panose="02020603050405020304" pitchFamily="18" charset="0"/>
                <a:cs typeface="Times New Roman" panose="02020603050405020304" pitchFamily="18" charset="0"/>
              </a:rPr>
              <a:t> — Agricultural market prices &amp; arrivals</a:t>
            </a:r>
          </a:p>
          <a:p>
            <a:pPr marL="285750" indent="-285750">
              <a:buFont typeface="Arial" panose="020B0604020202020204" pitchFamily="34" charset="0"/>
              <a:buChar char="•"/>
            </a:pPr>
            <a:br>
              <a:rPr lang="en-IN" dirty="0">
                <a:latin typeface="Times New Roman" panose="02020603050405020304" pitchFamily="18" charset="0"/>
                <a:cs typeface="Times New Roman" panose="02020603050405020304" pitchFamily="18" charset="0"/>
              </a:rPr>
            </a:br>
            <a:r>
              <a:rPr lang="en-IN" b="1" dirty="0" err="1">
                <a:latin typeface="Times New Roman" panose="02020603050405020304" pitchFamily="18" charset="0"/>
                <a:cs typeface="Times New Roman" panose="02020603050405020304" pitchFamily="18" charset="0"/>
              </a:rPr>
              <a:t>MoSPI</a:t>
            </a:r>
            <a:r>
              <a:rPr lang="en-IN" b="1" dirty="0">
                <a:latin typeface="Times New Roman" panose="02020603050405020304" pitchFamily="18" charset="0"/>
                <a:cs typeface="Times New Roman" panose="02020603050405020304" pitchFamily="18" charset="0"/>
              </a:rPr>
              <a:t> / NSSO</a:t>
            </a:r>
            <a:r>
              <a:rPr lang="en-IN" dirty="0">
                <a:latin typeface="Times New Roman" panose="02020603050405020304" pitchFamily="18" charset="0"/>
                <a:cs typeface="Times New Roman" panose="02020603050405020304" pitchFamily="18" charset="0"/>
              </a:rPr>
              <a:t> — Report No. 587, Situation Assessment of Agricultural Households</a:t>
            </a:r>
            <a:br>
              <a:rPr lang="en-IN"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ICAR-CIPHET</a:t>
            </a:r>
            <a:r>
              <a:rPr lang="en-IN" dirty="0">
                <a:latin typeface="Times New Roman" panose="02020603050405020304" pitchFamily="18" charset="0"/>
                <a:cs typeface="Times New Roman" panose="02020603050405020304" pitchFamily="18" charset="0"/>
              </a:rPr>
              <a:t> — Post-harvest management &amp; losses</a:t>
            </a:r>
          </a:p>
          <a:p>
            <a:pPr marL="285750" indent="-285750">
              <a:buFont typeface="Arial" panose="020B0604020202020204" pitchFamily="34" charset="0"/>
              <a:buChar char="•"/>
            </a:pPr>
            <a:br>
              <a:rPr lang="en-IN"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TRAI</a:t>
            </a:r>
            <a:r>
              <a:rPr lang="en-IN" dirty="0">
                <a:latin typeface="Times New Roman" panose="02020603050405020304" pitchFamily="18" charset="0"/>
                <a:cs typeface="Times New Roman" panose="02020603050405020304" pitchFamily="18" charset="0"/>
              </a:rPr>
              <a:t> — Rural digital connectivity reports</a:t>
            </a:r>
            <a:br>
              <a:rPr lang="en-IN"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Sarvam AI</a:t>
            </a:r>
            <a:r>
              <a:rPr lang="en-IN" dirty="0">
                <a:latin typeface="Times New Roman" panose="02020603050405020304" pitchFamily="18" charset="0"/>
                <a:cs typeface="Times New Roman" panose="02020603050405020304" pitchFamily="18" charset="0"/>
              </a:rPr>
              <a:t> — Telugu Speech &amp; Language APIs</a:t>
            </a:r>
          </a:p>
        </p:txBody>
      </p:sp>
      <p:sp>
        <p:nvSpPr>
          <p:cNvPr id="17410" name="TextBox 17409"/>
          <p:cNvSpPr txBox="1"/>
          <p:nvPr/>
        </p:nvSpPr>
        <p:spPr>
          <a:xfrm>
            <a:off x="173736" y="5900000"/>
            <a:ext cx="11000000" cy="500000"/>
          </a:xfrm>
          <a:prstGeom prst="rect">
            <a:avLst/>
          </a:prstGeom>
          <a:noFill/>
        </p:spPr>
        <p:txBody>
          <a:bodyPr wrap="square">
            <a:spAutoFit/>
          </a:bodyPr>
          <a:lstStyle/>
          <a:p>
            <a:pPr algn="l"/>
            <a:r>
              <a:rPr sz="900" b="1">
                <a:solidFill>
                  <a:srgbClr val="0070C0"/>
                </a:solidFill>
              </a:rPr>
              <a:t>⚙ PROTOTYPE STATUS: </a:t>
            </a:r>
            <a:r>
              <a:rPr sz="800">
                <a:solidFill>
                  <a:srgbClr val="228B22"/>
                </a:solidFill>
              </a:rPr>
              <a:t>✅ Backend (FastAPI + SQLite): Auth, Market Intelligence, Net Realization Engine, Sell/Hold Engine, Buyer Matching, Price Prediction (ML), Telugu AI Assistant (Sarvam AI), Listings &amp; Offers, Transaction Flow — ALL WORKING.  ✅ Frontend (Next.js): Farmer Dashboard, Buyer Dashboard, Admin Panel, Market Comparison, AI Chatbot (Voice + Text) — ALL WORKING.  ✅ Tests: Auth, Buyer Matching, Sell/Hold, Market Intelligence — PASSING.  </a:t>
            </a:r>
            <a:r>
              <a:rPr sz="800">
                <a:solidFill>
                  <a:srgbClr val="FF8C00"/>
                </a:solidFill>
              </a:rPr>
              <a:t>🔄 In Progress: PostgreSQL migration (currently SQLite for demo), Agmarknet live API integration, PWA offline mode.</a:t>
            </a:r>
          </a:p>
          <a:p>
            <a:pPr algn="l"/>
            <a:r>
              <a:rPr sz="700" i="1">
                <a:solidFill>
                  <a:srgbClr val="555555"/>
                </a:solidFill>
              </a:rPr>
              <a:t>Note: This is a working prototype with simulated Telangana market data. Core engines (Net Realization, Sell/Hold, Buyer Matching, Telugu AI) are fully functional end-to-end. GitHub: github.com/darkbyteRo/smartagri</a:t>
            </a:r>
          </a:p>
        </p:txBody>
      </p:sp>
      <p:sp>
        <p:nvSpPr>
          <p:cNvPr id="17411" name="TextBox 17410"/>
          <p:cNvSpPr txBox="1"/>
          <p:nvPr/>
        </p:nvSpPr>
        <p:spPr>
          <a:xfrm>
            <a:off x="173736" y="5900000"/>
            <a:ext cx="11000000" cy="500000"/>
          </a:xfrm>
          <a:prstGeom prst="rect">
            <a:avLst/>
          </a:prstGeom>
          <a:noFill/>
        </p:spPr>
        <p:txBody>
          <a:bodyPr wrap="square">
            <a:spAutoFit/>
          </a:bodyPr>
          <a:lstStyle/>
          <a:p>
            <a:pPr algn="l"/>
            <a:r>
              <a:rPr sz="900" b="1">
                <a:solidFill>
                  <a:srgbClr val="0070C0"/>
                </a:solidFill>
              </a:rPr>
              <a:t>⚙ PROTOTYPE STATUS: </a:t>
            </a:r>
            <a:r>
              <a:rPr sz="800">
                <a:solidFill>
                  <a:srgbClr val="228B22"/>
                </a:solidFill>
              </a:rPr>
              <a:t>✅ Backend (FastAPI + SQLite): Auth, Market Intelligence, Net Realization Engine, Sell/Hold Engine, Buyer Matching, Price Prediction (ML), Telugu AI Assistant (Sarvam AI), Listings &amp; Offers, Transaction Flow — ALL WORKING.  ✅ Frontend (Next.js): Farmer Dashboard, Buyer Dashboard, Admin Panel, Market Comparison, AI Chatbot (Voice + Text) — ALL WORKING.  ✅ Tests: Auth, Buyer Matching, Sell/Hold, Market Intelligence — PASSING.  </a:t>
            </a:r>
            <a:r>
              <a:rPr sz="800">
                <a:solidFill>
                  <a:srgbClr val="FF8C00"/>
                </a:solidFill>
              </a:rPr>
              <a:t>🔄 In Progress: PostgreSQL migration (currently SQLite for demo), Agmarknet live API integration, PWA offline mode.</a:t>
            </a:r>
          </a:p>
          <a:p>
            <a:pPr algn="l"/>
            <a:r>
              <a:rPr sz="700" i="1">
                <a:solidFill>
                  <a:srgbClr val="555555"/>
                </a:solidFill>
              </a:rPr>
              <a:t>Note: This is a working prototype with simulated Telangana market data. Core engines (Net Realization, Sell/Hold, Buyer Matching, Telugu AI) are fully functional end-to-end. GitHub: github.com/darkbyteRo/smartagri</a:t>
            </a:r>
          </a:p>
        </p:txBody>
      </p:sp>
    </p:spTree>
    <p:extLst>
      <p:ext uri="{BB962C8B-B14F-4D97-AF65-F5344CB8AC3E}">
        <p14:creationId xmlns:p14="http://schemas.microsoft.com/office/powerpoint/2010/main" val="39167886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7604</TotalTime>
  <Words>944</Words>
  <Application>Microsoft Office PowerPoint</Application>
  <PresentationFormat>Widescreen</PresentationFormat>
  <Paragraphs>132</Paragraphs>
  <Slides>6</Slides>
  <Notes>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vt:i4>
      </vt:variant>
    </vt:vector>
  </HeadingPairs>
  <TitlesOfParts>
    <vt:vector size="13" baseType="lpstr">
      <vt:lpstr>ＭＳ Ｐゴシック</vt:lpstr>
      <vt:lpstr>Arial</vt:lpstr>
      <vt:lpstr>Calibri</vt:lpstr>
      <vt:lpstr>Garamond</vt:lpstr>
      <vt:lpstr>Times New Roman</vt:lpstr>
      <vt:lpstr>TradeGothic</vt:lpstr>
      <vt:lpstr>Office Theme</vt:lpstr>
      <vt:lpstr>SMART INDIA HACKATHON 2026</vt:lpstr>
      <vt:lpstr>ArgiSetu- Intelligent Market Linkage &amp; Price Discovery for Farmers</vt:lpstr>
      <vt:lpstr>TECHNICAL APPROACH</vt:lpstr>
      <vt:lpstr>FEASIBILITY AND VIABILITY</vt:lpstr>
      <vt:lpstr>IMPACT AND BENEFITS</vt:lpstr>
      <vt:lpstr>RESEARCH  AND REFERENCES</vt:lpstr>
    </vt:vector>
  </TitlesOfParts>
  <Manager/>
  <Company>Crowdfunder,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Investor Pitch Deck Template</dc:title>
  <dc:subject/>
  <dc:creator>Crowdfunder</dc:creator>
  <cp:keywords/>
  <dc:description/>
  <cp:lastModifiedBy>Samanvi Tummala</cp:lastModifiedBy>
  <cp:revision>149</cp:revision>
  <dcterms:created xsi:type="dcterms:W3CDTF">2013-12-12T18:46:50Z</dcterms:created>
  <dcterms:modified xsi:type="dcterms:W3CDTF">2026-09-09T19:17:35Z</dcterms:modified>
  <cp:category/>
</cp:coreProperties>
</file>